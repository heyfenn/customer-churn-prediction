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27"/>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Lst>
  <p:sldSz cx="18288000" cy="10287000"/>
  <p:notesSz cx="6858000" cy="9144000"/>
  <p:embeddedFontLst>
    <p:embeddedFont>
      <p:font typeface="Archivo Black" charset="1" panose="020B0A03020202020B04"/>
      <p:regular r:id="rId24"/>
    </p:embeddedFont>
    <p:embeddedFont>
      <p:font typeface="Garet" charset="1" panose="00000000000000000000"/>
      <p:regular r:id="rId25"/>
    </p:embeddedFont>
    <p:embeddedFont>
      <p:font typeface="Garet Bold" charset="1" panose="00000000000000000000"/>
      <p:regular r:id="rId26"/>
    </p:embeddedFont>
    <p:embeddedFont>
      <p:font typeface="Poppins" charset="1" panose="00000500000000000000"/>
      <p:regular r:id="rId32"/>
    </p:embeddedFont>
    <p:embeddedFont>
      <p:font typeface="Brittany" charset="1" panose="00000000000000000000"/>
      <p:regular r:id="rId4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fonts/font24.fntdata" Type="http://schemas.openxmlformats.org/officeDocument/2006/relationships/font"/><Relationship Id="rId25" Target="fonts/font25.fntdata" Type="http://schemas.openxmlformats.org/officeDocument/2006/relationships/font"/><Relationship Id="rId26" Target="fonts/font26.fntdata" Type="http://schemas.openxmlformats.org/officeDocument/2006/relationships/font"/><Relationship Id="rId27" Target="notesMasters/notesMaster1.xml" Type="http://schemas.openxmlformats.org/officeDocument/2006/relationships/notesMaster"/><Relationship Id="rId28" Target="theme/theme2.xml" Type="http://schemas.openxmlformats.org/officeDocument/2006/relationships/theme"/><Relationship Id="rId29" Target="notesSlides/notesSlide1.xml" Type="http://schemas.openxmlformats.org/officeDocument/2006/relationships/notesSlide"/><Relationship Id="rId3" Target="viewProps.xml" Type="http://schemas.openxmlformats.org/officeDocument/2006/relationships/viewProps"/><Relationship Id="rId30" Target="notesSlides/notesSlide2.xml" Type="http://schemas.openxmlformats.org/officeDocument/2006/relationships/notesSlide"/><Relationship Id="rId31" Target="notesSlides/notesSlide3.xml" Type="http://schemas.openxmlformats.org/officeDocument/2006/relationships/notesSlide"/><Relationship Id="rId32" Target="fonts/font32.fntdata" Type="http://schemas.openxmlformats.org/officeDocument/2006/relationships/font"/><Relationship Id="rId33" Target="notesSlides/notesSlide4.xml" Type="http://schemas.openxmlformats.org/officeDocument/2006/relationships/notesSlide"/><Relationship Id="rId34" Target="notesSlides/notesSlide5.xml" Type="http://schemas.openxmlformats.org/officeDocument/2006/relationships/notesSlide"/><Relationship Id="rId35" Target="notesSlides/notesSlide6.xml" Type="http://schemas.openxmlformats.org/officeDocument/2006/relationships/notesSlide"/><Relationship Id="rId36" Target="notesSlides/notesSlide7.xml" Type="http://schemas.openxmlformats.org/officeDocument/2006/relationships/notesSlide"/><Relationship Id="rId37" Target="notesSlides/notesSlide8.xml" Type="http://schemas.openxmlformats.org/officeDocument/2006/relationships/notesSlide"/><Relationship Id="rId38" Target="notesSlides/notesSlide9.xml" Type="http://schemas.openxmlformats.org/officeDocument/2006/relationships/notesSlide"/><Relationship Id="rId39" Target="notesSlides/notesSlide10.xml" Type="http://schemas.openxmlformats.org/officeDocument/2006/relationships/notesSlide"/><Relationship Id="rId4" Target="theme/theme1.xml" Type="http://schemas.openxmlformats.org/officeDocument/2006/relationships/theme"/><Relationship Id="rId40" Target="notesSlides/notesSlide11.xml" Type="http://schemas.openxmlformats.org/officeDocument/2006/relationships/notesSlide"/><Relationship Id="rId41" Target="notesSlides/notesSlide12.xml" Type="http://schemas.openxmlformats.org/officeDocument/2006/relationships/notesSlide"/><Relationship Id="rId42" Target="notesSlides/notesSlide13.xml" Type="http://schemas.openxmlformats.org/officeDocument/2006/relationships/notesSlide"/><Relationship Id="rId43" Target="notesSlides/notesSlide14.xml" Type="http://schemas.openxmlformats.org/officeDocument/2006/relationships/notesSlide"/><Relationship Id="rId44" Target="notesSlides/notesSlide15.xml" Type="http://schemas.openxmlformats.org/officeDocument/2006/relationships/notesSlide"/><Relationship Id="rId45" Target="notesSlides/notesSlide16.xml" Type="http://schemas.openxmlformats.org/officeDocument/2006/relationships/notesSlide"/><Relationship Id="rId46" Target="fonts/font46.fntdata" Type="http://schemas.openxmlformats.org/officeDocument/2006/relationships/font"/><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"Here's a quick look at what we'll cover today—from understanding what churn is and why it matters, to how I approached solving it using data science methods, and finally the impact of the solution."</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Let’s begin with a quick overview of what churn means.</a:t>
            </a:r>
          </a:p>
          <a:p>
            <a:r>
              <a:rPr lang="en-US"/>
              <a:t/>
            </a:r>
          </a:p>
          <a:p>
            <a:r>
              <a:rPr lang="en-US"/>
              <a:t>Churn simply refers to customer loss — when a customer stops using a company’s service.</a:t>
            </a:r>
          </a:p>
          <a:p>
            <a:r>
              <a:rPr lang="en-US"/>
              <a:t/>
            </a:r>
          </a:p>
          <a:p>
            <a:r>
              <a:rPr lang="en-US"/>
              <a:t>It’s usually expressed as a percentage, using the formula shown here:</a:t>
            </a:r>
          </a:p>
          <a:p>
            <a:r>
              <a:rPr lang="en-US"/>
              <a:t/>
            </a:r>
          </a:p>
          <a:p>
            <a:r>
              <a:rPr lang="en-US"/>
              <a:t>The number of customers lost during a specific period divided by the total number of customers at the start — multiplied by 100.</a:t>
            </a:r>
          </a:p>
          <a:p>
            <a:r>
              <a:rPr lang="en-US"/>
              <a:t/>
            </a:r>
          </a:p>
          <a:p>
            <a:r>
              <a:rPr lang="en-US"/>
              <a:t>So why does churn matter?</a:t>
            </a:r>
          </a:p>
          <a:p>
            <a:r>
              <a:rPr lang="en-US"/>
              <a:t/>
            </a:r>
          </a:p>
          <a:p>
            <a:r>
              <a:rPr lang="en-US"/>
              <a:t>First, it’s much more expensive to acquire a new customer than to retain an existing one.</a:t>
            </a:r>
          </a:p>
          <a:p>
            <a:r>
              <a:rPr lang="en-US"/>
              <a:t/>
            </a:r>
          </a:p>
          <a:p>
            <a:r>
              <a:rPr lang="en-US"/>
              <a:t>Forbes cites research indicating that boosting customer retention by just 5% can increase profit by 25% to 95%.</a:t>
            </a:r>
          </a:p>
          <a:p>
            <a:r>
              <a:rPr lang="en-US"/>
              <a:t/>
            </a:r>
          </a:p>
          <a:p>
            <a:r>
              <a:rPr lang="en-US"/>
              <a:t>Second, a high churn rate can signal deeper problems like poor customer experience, pricing dissatisfaction, or lack of value.</a:t>
            </a:r>
          </a:p>
          <a:p>
            <a:r>
              <a:rPr lang="en-US"/>
              <a:t/>
            </a:r>
          </a:p>
          <a:p>
            <a:r>
              <a:rPr lang="en-US"/>
              <a:t>And finally, reducing churn leads to tangible business benefits — like increased revenue, better customer lifetime value, and stronger brand loyalty.</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“This project focuses on helping the business proactively reduce customer churn.</a:t>
            </a:r>
          </a:p>
          <a:p>
            <a:r>
              <a:rPr lang="en-US"/>
              <a:t/>
            </a:r>
          </a:p>
          <a:p>
            <a:r>
              <a:rPr lang="en-US"/>
              <a:t>Stakeholders</a:t>
            </a:r>
          </a:p>
          <a:p>
            <a:r>
              <a:rPr lang="en-US"/>
              <a:t>This project benefits stakeholders including:</a:t>
            </a:r>
          </a:p>
          <a:p>
            <a:r>
              <a:rPr lang="en-US"/>
              <a:t>Customer Retention and Success Teams: Seeking proactive engagement solutions for at-risk customers.</a:t>
            </a:r>
          </a:p>
          <a:p>
            <a:r>
              <a:rPr lang="en-US"/>
              <a:t>Marketing Managers: Aiming to enhance campaign effectiveness and reduce churn.</a:t>
            </a:r>
          </a:p>
          <a:p>
            <a:r>
              <a:rPr lang="en-US"/>
              <a:t>CRM Administrators: Integrating predictive analytics into customer management systems.</a:t>
            </a:r>
          </a:p>
          <a:p>
            <a:r>
              <a:rPr lang="en-US"/>
              <a:t>Data Analysts and Scientists: Deriving actionable insights from data.</a:t>
            </a:r>
          </a:p>
          <a:p>
            <a:r>
              <a:rPr lang="en-US"/>
              <a:t>Senior Management and Executives: Making strategic decisions focused on revenue protection and profitability.</a:t>
            </a:r>
          </a:p>
          <a:p>
            <a:r>
              <a:rPr lang="en-US"/>
              <a:t>Product Managers: Refining customer experience and service offerings.</a:t>
            </a:r>
          </a:p>
          <a:p>
            <a:r>
              <a:rPr lang="en-US"/>
              <a:t/>
            </a:r>
          </a:p>
          <a:p>
            <a:r>
              <a:rPr lang="en-US"/>
              <a:t>The business objective is to identify customers likely to leave in the next billing cycle and understand the reasons why—so we can take early action to retain them, protect revenue, and maximize customer lifetime value.</a:t>
            </a:r>
          </a:p>
          <a:p>
            <a:r>
              <a:rPr lang="en-US"/>
              <a:t/>
            </a:r>
          </a:p>
          <a:p>
            <a:r>
              <a:rPr lang="en-US"/>
              <a:t>The project objective is to:</a:t>
            </a:r>
          </a:p>
          <a:p>
            <a:r>
              <a:rPr lang="en-US"/>
              <a:t/>
            </a:r>
          </a:p>
          <a:p>
            <a:r>
              <a:rPr lang="en-US"/>
              <a:t>Analyze customer data to uncover churn patterns</a:t>
            </a:r>
          </a:p>
          <a:p>
            <a:r>
              <a:rPr lang="en-US"/>
              <a:t/>
            </a:r>
          </a:p>
          <a:p>
            <a:r>
              <a:rPr lang="en-US"/>
              <a:t>Identify key drivers behind churn behavior</a:t>
            </a:r>
          </a:p>
          <a:p>
            <a:r>
              <a:rPr lang="en-US"/>
              <a:t/>
            </a:r>
          </a:p>
          <a:p>
            <a:r>
              <a:rPr lang="en-US"/>
              <a:t>Build a predictive model to detect high-risk customers</a:t>
            </a:r>
          </a:p>
          <a:p>
            <a:r>
              <a:rPr lang="en-US"/>
              <a:t/>
            </a:r>
          </a:p>
          <a:p>
            <a:r>
              <a:rPr lang="en-US"/>
              <a:t>And provide actionable insights to support targeted retention strategies</a:t>
            </a:r>
          </a:p>
          <a:p>
            <a:r>
              <a:rPr lang="en-US"/>
              <a:t/>
            </a:r>
          </a:p>
          <a:p>
            <a:r>
              <a:rPr lang="en-US"/>
              <a:t>In short, this project bridges data with strategy to drive better customer outcomes.”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This is the high-level data science workflow I followed—starting from understanding the problem, moving through data preparation, model building, evaluation, and ending with deployment.</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 dataset comes from IBM via Kaggle and contains 7,043 customer records. The target variable is binary—whether a customer churned or not.</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To prepare the data for modeling, I cleaned and transformed several key elements.</a:t>
            </a:r>
          </a:p>
          <a:p>
            <a:r>
              <a:rPr lang="en-US"/>
              <a:t/>
            </a:r>
          </a:p>
          <a:p>
            <a:r>
              <a:rPr lang="en-US"/>
              <a:t>I started by converting ‘Total Charges’ to numeric and handled 11 missing values. The ‘Churn Reason’ column was dropped due to too many missing entries.</a:t>
            </a:r>
          </a:p>
          <a:p>
            <a:r>
              <a:rPr lang="en-US"/>
              <a:t/>
            </a:r>
          </a:p>
          <a:p>
            <a:r>
              <a:rPr lang="en-US"/>
              <a:t>I also removed non-essential fields like IDs and geographic details.</a:t>
            </a:r>
          </a:p>
          <a:p>
            <a:r>
              <a:rPr lang="en-US"/>
              <a:t/>
            </a:r>
          </a:p>
          <a:p>
            <a:r>
              <a:rPr lang="en-US"/>
              <a:t>Categorical columns such as Gender and Internet Service were label encoded, and I applied StandardScaler to normalize numerical features.</a:t>
            </a:r>
          </a:p>
          <a:p>
            <a:r>
              <a:rPr lang="en-US"/>
              <a:t/>
            </a:r>
          </a:p>
          <a:p>
            <a:r>
              <a:rPr lang="en-US"/>
              <a:t>Lastly, I created two new features:</a:t>
            </a:r>
          </a:p>
          <a:p>
            <a:r>
              <a:rPr lang="en-US"/>
              <a:t/>
            </a:r>
          </a:p>
          <a:p>
            <a:r>
              <a:rPr lang="en-US"/>
              <a:t>Average Spend Per Month, to reflect spending behavior</a:t>
            </a:r>
          </a:p>
          <a:p>
            <a:r>
              <a:rPr lang="en-US"/>
              <a:t/>
            </a:r>
          </a:p>
          <a:p>
            <a:r>
              <a:rPr lang="en-US"/>
              <a:t>Additional Services Count, to show engagement with extra services</a:t>
            </a:r>
          </a:p>
          <a:p>
            <a:r>
              <a:rPr lang="en-US"/>
              <a:t/>
            </a:r>
          </a:p>
          <a:p>
            <a:r>
              <a:rPr lang="en-US"/>
              <a:t>These steps helped ensure the data was clean, balanced, and model-ready.</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 visualizations revealed clear churn patterns—customers with short tenure, month-to-month contracts, or who paid via electronic check were more likely to churn.</a:t>
            </a:r>
          </a:p>
          <a:p>
            <a:r>
              <a:rPr lang="en-US"/>
              <a:t/>
            </a:r>
          </a:p>
          <a:p>
            <a:r>
              <a:rPr lang="en-US"/>
              <a:t>We also saw that churned customers tend to have lower total charges, indicating they left early. This shows that churn is more common among newer users, highlighting the importance of a strong onboarding experience and early support to drive retention.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 Tenure Distribution shows churn is highest among customers with short tenures. Many leave in the first few months, while those who stay beyond 40 months are far less likely to churn.</a:t>
            </a:r>
          </a:p>
          <a:p>
            <a:r>
              <a:rPr lang="en-US"/>
              <a:t/>
            </a:r>
          </a:p>
          <a:p>
            <a:r>
              <a:rPr lang="en-US"/>
              <a:t>This highlights the need to focus on early-stage retention through smooth onboarding and strong initial support.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Customers on month-to-month contracts churn the most, while those on one- or two-year contracts are more likely to stay.</a:t>
            </a:r>
          </a:p>
          <a:p>
            <a:r>
              <a:rPr lang="en-US"/>
              <a:t/>
            </a:r>
          </a:p>
          <a:p>
            <a:r>
              <a:rPr lang="en-US"/>
              <a:t>This suggests that longer-term contracts encourage retention. Offering incentives to lock in longer commitments can help reduce churn.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Customers using electronic checks have the highest churn, while those on auto-pay methods like bank transfers or credit cards are more likely to stay.</a:t>
            </a:r>
          </a:p>
          <a:p>
            <a:r>
              <a:rPr lang="en-US"/>
              <a:t/>
            </a:r>
          </a:p>
          <a:p>
            <a:r>
              <a:rPr lang="en-US"/>
              <a:t>This suggests that auto-pay users are more committed, and promoting these options could help reduce churn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I tested Logistic Regression, Decision Tree, and Random Forest. Random Forest performed best due to its ability to handle complex data.</a:t>
            </a:r>
          </a:p>
          <a:p>
            <a:r>
              <a:rPr lang="en-US"/>
              <a:t/>
            </a:r>
          </a:p>
          <a:p>
            <a:r>
              <a:rPr lang="en-US"/>
              <a:t>To address class imbalance, I applied upsampling, which significantly improved the model's ability to detect churn.</a:t>
            </a:r>
          </a:p>
          <a:p>
            <a:r>
              <a:rPr lang="en-US"/>
              <a:t/>
            </a:r>
          </a:p>
          <a:p>
            <a:r>
              <a:rPr lang="en-US"/>
              <a:t>I also performed hyperparameter tuning, but it didn’t yield a significant performance boost—indicating the default Random Forest was already near-optimal.</a:t>
            </a:r>
          </a:p>
          <a:p>
            <a:r>
              <a:rPr lang="en-US"/>
              <a:t/>
            </a:r>
          </a:p>
          <a:p>
            <a:r>
              <a:rPr lang="en-US"/>
              <a:t>In the end, I selected the upsampled Random Forest model for its strong overall performance and reliability.</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Here, we compare Logistic Regression and Random Forest models using AUC scores and ROC curves.</a:t>
            </a:r>
          </a:p>
          <a:p>
            <a:r>
              <a:rPr lang="en-US"/>
              <a:t/>
            </a:r>
          </a:p>
          <a:p>
            <a:r>
              <a:rPr lang="en-US"/>
              <a:t>For Logistic Regression, both the original and SMOTE versions achieved an AUC of 0.85, while the upsampled version performed slightly worse at 0.78.</a:t>
            </a:r>
          </a:p>
          <a:p>
            <a:r>
              <a:rPr lang="en-US"/>
              <a:t/>
            </a:r>
          </a:p>
          <a:p>
            <a:r>
              <a:rPr lang="en-US"/>
              <a:t>Random Forest started lower with an AUC of 0.71, but improved with SMOTE to 0.75. The biggest gain came from upsampling, pushing AUC to 0.92—the best overall performance.</a:t>
            </a:r>
          </a:p>
          <a:p>
            <a:r>
              <a:rPr lang="en-US"/>
              <a:t/>
            </a:r>
          </a:p>
          <a:p>
            <a:r>
              <a:rPr lang="en-US"/>
              <a:t>This shows how addressing class imbalance significantly boosted the model’s ability to correctly identify churned customers.</a:t>
            </a:r>
          </a:p>
          <a:p>
            <a:r>
              <a:rPr lang="en-US"/>
              <a:t/>
            </a:r>
          </a:p>
          <a:p>
            <a:r>
              <a:rPr lang="en-US"/>
              <a:t>-----</a:t>
            </a:r>
          </a:p>
          <a:p>
            <a:r>
              <a:rPr lang="en-US"/>
              <a:t/>
            </a:r>
          </a:p>
          <a:p>
            <a:r>
              <a:rPr lang="en-US"/>
              <a:t>Concern for choosing Upsampled Random Forest model due to overfitting risk :  </a:t>
            </a:r>
          </a:p>
          <a:p>
            <a:r>
              <a:rPr lang="en-US"/>
              <a:t/>
            </a:r>
          </a:p>
          <a:p>
            <a:r>
              <a:rPr lang="en-US"/>
              <a:t>Yes, overfitting is something I was mindful of since upsampling and Random Forests can sometimes memorize the training data. To mitigate that, I evaluated all models using a separate test set and tuned hyperparameters using randomized search with cross-validation. I compared metrics like recall and AUC — which showed that my hypertuned upsampled model performs well on unseen data. I also looked at the ROC curve and confusion matrix to make sure the model wasn’t overly biased. If needed, I could also apply k-fold CV or try simpler models for comparison.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 model correctly predicted 990 churn cases and only missed 36—an excellent result. This high recall is essential because it means we’re catching most of the customers at risk."</a:t>
            </a:r>
          </a:p>
          <a:p>
            <a:r>
              <a:rPr lang="en-US"/>
              <a:t/>
            </a:r>
          </a:p>
          <a:p>
            <a:r>
              <a:rPr lang="en-US"/>
              <a:t>-----</a:t>
            </a:r>
          </a:p>
          <a:p>
            <a:r>
              <a:rPr lang="en-US"/>
              <a:t/>
            </a:r>
          </a:p>
          <a:p>
            <a:r>
              <a:rPr lang="en-US"/>
              <a:t>✅ Key Takeaways</a:t>
            </a:r>
          </a:p>
          <a:p>
            <a:r>
              <a:rPr lang="en-US"/>
              <a:t>High True Positives (990): Great performance in detecting churners.</a:t>
            </a:r>
          </a:p>
          <a:p>
            <a:r>
              <a:rPr lang="en-US"/>
              <a:t/>
            </a:r>
          </a:p>
          <a:p>
            <a:r>
              <a:rPr lang="en-US"/>
              <a:t>Very Low False Negatives (36): Our model rarely misses actual churn cases, which is crucial for customer retention.</a:t>
            </a:r>
          </a:p>
          <a:p>
            <a:r>
              <a:rPr lang="en-US"/>
              <a:t/>
            </a:r>
          </a:p>
          <a:p>
            <a:r>
              <a:rPr lang="en-US"/>
              <a:t>Balanced Accuracy: Although we do have some false positives (139), it’s often safer to err on the side of caution in churn prediction.</a:t>
            </a:r>
          </a:p>
          <a:p>
            <a:r>
              <a:rPr lang="en-US"/>
              <a:t/>
            </a:r>
          </a:p>
          <a:p>
            <a:r>
              <a:rPr lang="en-US"/>
              <a:t>----</a:t>
            </a:r>
          </a:p>
          <a:p>
            <a:r>
              <a:rPr lang="en-US"/>
              <a:t/>
            </a:r>
          </a:p>
          <a:p>
            <a:r>
              <a:rPr lang="en-US"/>
              <a:t>1. True Negatives (905)</a:t>
            </a:r>
          </a:p>
          <a:p>
            <a:r>
              <a:rPr lang="en-US"/>
              <a:t>“These are 905 customers who did not churn, and the model correctly predicted them as not churned.”</a:t>
            </a:r>
          </a:p>
          <a:p>
            <a:r>
              <a:rPr lang="en-US"/>
              <a:t/>
            </a:r>
          </a:p>
          <a:p>
            <a:r>
              <a:rPr lang="en-US"/>
              <a:t>2. True Positives (990)</a:t>
            </a:r>
          </a:p>
          <a:p>
            <a:r>
              <a:rPr lang="en-US"/>
              <a:t>“These are 990 customers who did churn, and the model correctly predicted them as churned. This is the most critical group—we caught almost all churners.”</a:t>
            </a:r>
          </a:p>
          <a:p>
            <a:r>
              <a:rPr lang="en-US"/>
              <a:t/>
            </a:r>
          </a:p>
          <a:p>
            <a:r>
              <a:rPr lang="en-US"/>
              <a:t>3. False Positives (139)</a:t>
            </a:r>
          </a:p>
          <a:p>
            <a:r>
              <a:rPr lang="en-US"/>
              <a:t>“These are customers the model wrongly predicted would churn, but they didn’t. This may lead to unnecessary retention offers but is not a severe issue.”</a:t>
            </a:r>
          </a:p>
          <a:p>
            <a:r>
              <a:rPr lang="en-US"/>
              <a:t/>
            </a:r>
          </a:p>
          <a:p>
            <a:r>
              <a:rPr lang="en-US"/>
              <a:t>4. False Negatives (36)</a:t>
            </a:r>
          </a:p>
          <a:p>
            <a:r>
              <a:rPr lang="en-US"/>
              <a:t>“These 36 are customers the model missed—they churned, but the model predicted they wouldn’t. This is what we want to minimize, and our model performs very well here.”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 Random Forest model shows that tenure and billing-related features are the strongest churn predictors.</a:t>
            </a:r>
          </a:p>
          <a:p>
            <a:r>
              <a:rPr lang="en-US"/>
              <a:t/>
            </a:r>
          </a:p>
          <a:p>
            <a:r>
              <a:rPr lang="en-US"/>
              <a:t>Customers with shorter tenures, lower total charges, and those on month-to-month contracts are more likely to churn.</a:t>
            </a:r>
          </a:p>
          <a:p>
            <a:r>
              <a:rPr lang="en-US"/>
              <a:t/>
            </a:r>
          </a:p>
          <a:p>
            <a:r>
              <a:rPr lang="en-US"/>
              <a:t>Other important factors include lack of online security, no dependents, or paying via electronic check.</a:t>
            </a:r>
          </a:p>
          <a:p>
            <a:r>
              <a:rPr lang="en-US"/>
              <a:t/>
            </a:r>
          </a:p>
          <a:p>
            <a:r>
              <a:rPr lang="en-US"/>
              <a:t>These insights help to influence stakeholders decision making to target high-risk customers and design more effective retention strategies.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I deployed the model using Docker and Google Cloud Run. The web app allows internal users to input customer attributes and get real-time churn predictions."</a:t>
            </a:r>
          </a:p>
          <a:p>
            <a:r>
              <a:rPr lang="en-US"/>
              <a:t/>
            </a:r>
          </a:p>
          <a:p>
            <a:r>
              <a:rPr lang="en-US"/>
              <a:t>https://churn-predictor-939566192323.asia-southeast1.run.app/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Retention efforts should target new users, high spenders, and those on month-to-month plans. I suggest loyalty incentives and bundled discounts. In future versions, we can enrich the model with CRM data or use interpretable methods like SHAP.</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jpe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1.jpe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 Id="rId6" Target="../media/image11.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1.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1.jpeg" Type="http://schemas.openxmlformats.org/officeDocument/2006/relationships/image"/><Relationship Id="rId4" Target="../media/image12.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1.jpeg" Type="http://schemas.openxmlformats.org/officeDocument/2006/relationships/image"/><Relationship Id="rId4" Target="../media/image13.png" Type="http://schemas.openxmlformats.org/officeDocument/2006/relationships/image"/><Relationship Id="rId5" Target="../media/image14.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1.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1.jpeg" Type="http://schemas.openxmlformats.org/officeDocument/2006/relationships/image"/><Relationship Id="rId4" Target="../media/image15.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1.jpeg" Type="http://schemas.openxmlformats.org/officeDocument/2006/relationships/image"/><Relationship Id="rId4" Target="../media/image16.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1.jpeg" Type="http://schemas.openxmlformats.org/officeDocument/2006/relationships/image"/><Relationship Id="rId4" Target="../media/image17.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 Id="rId3" Target="../media/image1.jpeg" Type="http://schemas.openxmlformats.org/officeDocument/2006/relationships/image"/><Relationship Id="rId4" Target="../media/image18.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1.xml" Type="http://schemas.openxmlformats.org/officeDocument/2006/relationships/notesSlide"/><Relationship Id="rId3" Target="../media/image1.jpeg" Type="http://schemas.openxmlformats.org/officeDocument/2006/relationships/image"/><Relationship Id="rId4" Target="../media/image19.png" Type="http://schemas.openxmlformats.org/officeDocument/2006/relationships/image"/><Relationship Id="rId5" Target="../media/image20.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2.xml" Type="http://schemas.openxmlformats.org/officeDocument/2006/relationships/notesSlide"/><Relationship Id="rId3" Target="../media/image1.jpeg" Type="http://schemas.openxmlformats.org/officeDocument/2006/relationships/image"/><Relationship Id="rId4" Target="../media/image21.png" Type="http://schemas.openxmlformats.org/officeDocument/2006/relationships/image"/><Relationship Id="rId5" Target="../media/image22.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3.xml" Type="http://schemas.openxmlformats.org/officeDocument/2006/relationships/notesSlide"/><Relationship Id="rId3" Target="../media/image1.jpeg" Type="http://schemas.openxmlformats.org/officeDocument/2006/relationships/image"/><Relationship Id="rId4" Target="../media/image23.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4.xml" Type="http://schemas.openxmlformats.org/officeDocument/2006/relationships/notesSlide"/><Relationship Id="rId3" Target="../media/image1.jpeg" Type="http://schemas.openxmlformats.org/officeDocument/2006/relationships/image"/><Relationship Id="rId4" Target="../media/image24.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5.xml" Type="http://schemas.openxmlformats.org/officeDocument/2006/relationships/notesSlide"/><Relationship Id="rId3" Target="../media/image1.jpeg" Type="http://schemas.openxmlformats.org/officeDocument/2006/relationships/image"/><Relationship Id="rId4" Target="../media/image25.png" Type="http://schemas.openxmlformats.org/officeDocument/2006/relationships/image"/><Relationship Id="rId5" Target="https://churn-predictor-939566192323.asia-southeast1.run.app" TargetMode="External" Type="http://schemas.openxmlformats.org/officeDocument/2006/relationships/hyperlink"/><Relationship Id="rId6" Target="https://churn-predictor-939566192323.asia-southeast1.run.app" TargetMode="External" Type="http://schemas.openxmlformats.org/officeDocument/2006/relationships/hyperlink"/></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6.xml" Type="http://schemas.openxmlformats.org/officeDocument/2006/relationships/notesSlide"/><Relationship Id="rId3" Target="../media/image1.jpe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64" r="0" b="-3364"/>
            </a:stretch>
          </a:blipFill>
        </p:spPr>
      </p:sp>
      <p:sp>
        <p:nvSpPr>
          <p:cNvPr name="Freeform 3" id="3"/>
          <p:cNvSpPr/>
          <p:nvPr/>
        </p:nvSpPr>
        <p:spPr>
          <a:xfrm flipH="false" flipV="false" rot="0">
            <a:off x="14920300" y="7200900"/>
            <a:ext cx="2214423" cy="2057400"/>
          </a:xfrm>
          <a:custGeom>
            <a:avLst/>
            <a:gdLst/>
            <a:ahLst/>
            <a:cxnLst/>
            <a:rect r="r" b="b" t="t" l="l"/>
            <a:pathLst>
              <a:path h="2057400" w="2214423">
                <a:moveTo>
                  <a:pt x="0" y="0"/>
                </a:moveTo>
                <a:lnTo>
                  <a:pt x="2214422" y="0"/>
                </a:lnTo>
                <a:lnTo>
                  <a:pt x="2214422" y="2057400"/>
                </a:lnTo>
                <a:lnTo>
                  <a:pt x="0" y="20574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7760892" y="4595680"/>
            <a:ext cx="9373830" cy="370917"/>
          </a:xfrm>
          <a:prstGeom prst="rect">
            <a:avLst/>
          </a:prstGeom>
        </p:spPr>
        <p:txBody>
          <a:bodyPr anchor="t" rtlCol="false" tIns="0" lIns="0" bIns="0" rIns="0">
            <a:spAutoFit/>
          </a:bodyPr>
          <a:lstStyle/>
          <a:p>
            <a:pPr algn="r" marL="0" indent="0" lvl="0">
              <a:lnSpc>
                <a:spcPts val="2748"/>
              </a:lnSpc>
              <a:spcBef>
                <a:spcPct val="0"/>
              </a:spcBef>
            </a:pPr>
            <a:r>
              <a:rPr lang="en-US" sz="2748" spc="-217">
                <a:solidFill>
                  <a:srgbClr val="000000"/>
                </a:solidFill>
                <a:latin typeface="Archivo Black"/>
                <a:ea typeface="Archivo Black"/>
                <a:cs typeface="Archivo Black"/>
                <a:sym typeface="Archivo Black"/>
              </a:rPr>
              <a:t>for Telecommunications company</a:t>
            </a:r>
          </a:p>
        </p:txBody>
      </p:sp>
      <p:sp>
        <p:nvSpPr>
          <p:cNvPr name="Freeform 5" id="5"/>
          <p:cNvSpPr/>
          <p:nvPr/>
        </p:nvSpPr>
        <p:spPr>
          <a:xfrm flipH="false" flipV="false" rot="0">
            <a:off x="1028700" y="7200900"/>
            <a:ext cx="3217014" cy="1242572"/>
          </a:xfrm>
          <a:custGeom>
            <a:avLst/>
            <a:gdLst/>
            <a:ahLst/>
            <a:cxnLst/>
            <a:rect r="r" b="b" t="t" l="l"/>
            <a:pathLst>
              <a:path h="1242572" w="3217014">
                <a:moveTo>
                  <a:pt x="0" y="0"/>
                </a:moveTo>
                <a:lnTo>
                  <a:pt x="3217014" y="0"/>
                </a:lnTo>
                <a:lnTo>
                  <a:pt x="3217014" y="1242572"/>
                </a:lnTo>
                <a:lnTo>
                  <a:pt x="0" y="1242572"/>
                </a:lnTo>
                <a:lnTo>
                  <a:pt x="0" y="0"/>
                </a:lnTo>
                <a:close/>
              </a:path>
            </a:pathLst>
          </a:custGeom>
          <a:blipFill>
            <a:blip r:embed="rId5"/>
            <a:stretch>
              <a:fillRect l="0" t="0" r="0" b="0"/>
            </a:stretch>
          </a:blipFill>
        </p:spPr>
      </p:sp>
      <p:sp>
        <p:nvSpPr>
          <p:cNvPr name="TextBox 6" id="6"/>
          <p:cNvSpPr txBox="true"/>
          <p:nvPr/>
        </p:nvSpPr>
        <p:spPr>
          <a:xfrm rot="0">
            <a:off x="4718882" y="7636131"/>
            <a:ext cx="3366096" cy="353060"/>
          </a:xfrm>
          <a:prstGeom prst="rect">
            <a:avLst/>
          </a:prstGeom>
        </p:spPr>
        <p:txBody>
          <a:bodyPr anchor="t" rtlCol="false" tIns="0" lIns="0" bIns="0" rIns="0">
            <a:spAutoFit/>
          </a:bodyPr>
          <a:lstStyle/>
          <a:p>
            <a:pPr algn="ctr" marL="0" indent="0" lvl="0">
              <a:lnSpc>
                <a:spcPts val="2859"/>
              </a:lnSpc>
              <a:spcBef>
                <a:spcPct val="0"/>
              </a:spcBef>
            </a:pPr>
            <a:r>
              <a:rPr lang="en-US" sz="2199">
                <a:solidFill>
                  <a:srgbClr val="2B2B2B"/>
                </a:solidFill>
                <a:latin typeface="Garet"/>
                <a:ea typeface="Garet"/>
                <a:cs typeface="Garet"/>
                <a:sym typeface="Garet"/>
              </a:rPr>
              <a:t>CAPSTONE PROJECT</a:t>
            </a:r>
          </a:p>
        </p:txBody>
      </p:sp>
      <p:sp>
        <p:nvSpPr>
          <p:cNvPr name="TextBox 7" id="7"/>
          <p:cNvSpPr txBox="true"/>
          <p:nvPr/>
        </p:nvSpPr>
        <p:spPr>
          <a:xfrm rot="0">
            <a:off x="2086375" y="8905240"/>
            <a:ext cx="3366096" cy="353060"/>
          </a:xfrm>
          <a:prstGeom prst="rect">
            <a:avLst/>
          </a:prstGeom>
        </p:spPr>
        <p:txBody>
          <a:bodyPr anchor="t" rtlCol="false" tIns="0" lIns="0" bIns="0" rIns="0">
            <a:spAutoFit/>
          </a:bodyPr>
          <a:lstStyle/>
          <a:p>
            <a:pPr algn="l" marL="0" indent="0" lvl="0">
              <a:lnSpc>
                <a:spcPts val="2859"/>
              </a:lnSpc>
              <a:spcBef>
                <a:spcPct val="0"/>
              </a:spcBef>
            </a:pPr>
            <a:r>
              <a:rPr lang="en-US" b="true" sz="2199">
                <a:solidFill>
                  <a:srgbClr val="2B2B2B"/>
                </a:solidFill>
                <a:latin typeface="Garet Bold"/>
                <a:ea typeface="Garet Bold"/>
                <a:cs typeface="Garet Bold"/>
                <a:sym typeface="Garet Bold"/>
              </a:rPr>
              <a:t>PRESENTED BY:</a:t>
            </a:r>
          </a:p>
        </p:txBody>
      </p:sp>
      <p:sp>
        <p:nvSpPr>
          <p:cNvPr name="TextBox 8" id="8"/>
          <p:cNvSpPr txBox="true"/>
          <p:nvPr/>
        </p:nvSpPr>
        <p:spPr>
          <a:xfrm rot="0">
            <a:off x="5182063" y="8905240"/>
            <a:ext cx="3366096" cy="353060"/>
          </a:xfrm>
          <a:prstGeom prst="rect">
            <a:avLst/>
          </a:prstGeom>
        </p:spPr>
        <p:txBody>
          <a:bodyPr anchor="t" rtlCol="false" tIns="0" lIns="0" bIns="0" rIns="0">
            <a:spAutoFit/>
          </a:bodyPr>
          <a:lstStyle/>
          <a:p>
            <a:pPr algn="l" marL="0" indent="0" lvl="0">
              <a:lnSpc>
                <a:spcPts val="2859"/>
              </a:lnSpc>
              <a:spcBef>
                <a:spcPct val="0"/>
              </a:spcBef>
            </a:pPr>
            <a:r>
              <a:rPr lang="en-US" sz="2199">
                <a:solidFill>
                  <a:srgbClr val="2B2B2B"/>
                </a:solidFill>
                <a:latin typeface="Garet"/>
                <a:ea typeface="Garet"/>
                <a:cs typeface="Garet"/>
                <a:sym typeface="Garet"/>
              </a:rPr>
              <a:t>Pak Hui Fen</a:t>
            </a:r>
          </a:p>
        </p:txBody>
      </p:sp>
      <p:sp>
        <p:nvSpPr>
          <p:cNvPr name="TextBox 9" id="9"/>
          <p:cNvSpPr txBox="true"/>
          <p:nvPr/>
        </p:nvSpPr>
        <p:spPr>
          <a:xfrm rot="0">
            <a:off x="690448" y="2243417"/>
            <a:ext cx="16907104" cy="2304638"/>
          </a:xfrm>
          <a:prstGeom prst="rect">
            <a:avLst/>
          </a:prstGeom>
        </p:spPr>
        <p:txBody>
          <a:bodyPr anchor="t" rtlCol="false" tIns="0" lIns="0" bIns="0" rIns="0">
            <a:spAutoFit/>
          </a:bodyPr>
          <a:lstStyle/>
          <a:p>
            <a:pPr algn="r" marL="0" indent="0" lvl="0">
              <a:lnSpc>
                <a:spcPts val="8490"/>
              </a:lnSpc>
              <a:spcBef>
                <a:spcPct val="0"/>
              </a:spcBef>
            </a:pPr>
            <a:r>
              <a:rPr lang="en-US" sz="10885" spc="-859">
                <a:solidFill>
                  <a:srgbClr val="000000"/>
                </a:solidFill>
                <a:latin typeface="Archivo Black"/>
                <a:ea typeface="Archivo Black"/>
                <a:cs typeface="Archivo Black"/>
                <a:sym typeface="Archivo Black"/>
              </a:rPr>
              <a:t>CUSTOMER CHURN PREDICTION</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3364" r="0" b="-3364"/>
            </a:stretch>
          </a:blipFill>
        </p:spPr>
      </p:sp>
      <p:graphicFrame>
        <p:nvGraphicFramePr>
          <p:cNvPr name="Table 3" id="3"/>
          <p:cNvGraphicFramePr>
            <a:graphicFrameLocks noGrp="true"/>
          </p:cNvGraphicFramePr>
          <p:nvPr/>
        </p:nvGraphicFramePr>
        <p:xfrm>
          <a:off x="10199594" y="1559650"/>
          <a:ext cx="6511183" cy="7391400"/>
        </p:xfrm>
        <a:graphic>
          <a:graphicData uri="http://schemas.openxmlformats.org/drawingml/2006/table">
            <a:tbl>
              <a:tblPr/>
              <a:tblGrid>
                <a:gridCol w="866395"/>
                <a:gridCol w="5025021"/>
              </a:tblGrid>
              <a:tr h="821267">
                <a:tc>
                  <a:txBody>
                    <a:bodyPr anchor="t" rtlCol="false"/>
                    <a:lstStyle/>
                    <a:p>
                      <a:pPr algn="l">
                        <a:lnSpc>
                          <a:spcPts val="2799"/>
                        </a:lnSpc>
                        <a:defRPr/>
                      </a:pPr>
                      <a:r>
                        <a:rPr lang="en-US" sz="1999" b="true">
                          <a:solidFill>
                            <a:srgbClr val="000000"/>
                          </a:solidFill>
                          <a:latin typeface="Garet Bold"/>
                          <a:ea typeface="Garet Bold"/>
                          <a:cs typeface="Garet Bold"/>
                          <a:sym typeface="Garet Bold"/>
                        </a:rPr>
                        <a:t>01</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799"/>
                        </a:lnSpc>
                        <a:defRPr/>
                      </a:pPr>
                      <a:r>
                        <a:rPr lang="en-US" sz="1999" b="true">
                          <a:solidFill>
                            <a:srgbClr val="000000"/>
                          </a:solidFill>
                          <a:latin typeface="Garet Bold"/>
                          <a:ea typeface="Garet Bold"/>
                          <a:cs typeface="Garet Bold"/>
                          <a:sym typeface="Garet Bold"/>
                        </a:rPr>
                        <a:t>Problem Statement</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r h="821267">
                <a:tc>
                  <a:txBody>
                    <a:bodyPr anchor="t" rtlCol="false"/>
                    <a:lstStyle/>
                    <a:p>
                      <a:pPr algn="l">
                        <a:lnSpc>
                          <a:spcPts val="2799"/>
                        </a:lnSpc>
                        <a:defRPr/>
                      </a:pPr>
                      <a:r>
                        <a:rPr lang="en-US" sz="1999" b="true">
                          <a:solidFill>
                            <a:srgbClr val="000000"/>
                          </a:solidFill>
                          <a:latin typeface="Garet Bold"/>
                          <a:ea typeface="Garet Bold"/>
                          <a:cs typeface="Garet Bold"/>
                          <a:sym typeface="Garet Bold"/>
                        </a:rPr>
                        <a:t>02</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799"/>
                        </a:lnSpc>
                        <a:defRPr/>
                      </a:pPr>
                      <a:r>
                        <a:rPr lang="en-US" sz="1999" b="true">
                          <a:solidFill>
                            <a:srgbClr val="000000"/>
                          </a:solidFill>
                          <a:latin typeface="Garet Bold"/>
                          <a:ea typeface="Garet Bold"/>
                          <a:cs typeface="Garet Bold"/>
                          <a:sym typeface="Garet Bold"/>
                        </a:rPr>
                        <a:t>Business Impact</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r h="821267">
                <a:tc>
                  <a:txBody>
                    <a:bodyPr anchor="t" rtlCol="false"/>
                    <a:lstStyle/>
                    <a:p>
                      <a:pPr algn="l">
                        <a:lnSpc>
                          <a:spcPts val="2799"/>
                        </a:lnSpc>
                        <a:defRPr/>
                      </a:pPr>
                      <a:r>
                        <a:rPr lang="en-US" sz="1999" b="true">
                          <a:solidFill>
                            <a:srgbClr val="000000"/>
                          </a:solidFill>
                          <a:latin typeface="Garet Bold"/>
                          <a:ea typeface="Garet Bold"/>
                          <a:cs typeface="Garet Bold"/>
                          <a:sym typeface="Garet Bold"/>
                        </a:rPr>
                        <a:t>03</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799"/>
                        </a:lnSpc>
                        <a:defRPr/>
                      </a:pPr>
                      <a:r>
                        <a:rPr lang="en-US" sz="1999" b="true">
                          <a:solidFill>
                            <a:srgbClr val="000000"/>
                          </a:solidFill>
                          <a:latin typeface="Garet Bold"/>
                          <a:ea typeface="Garet Bold"/>
                          <a:cs typeface="Garet Bold"/>
                          <a:sym typeface="Garet Bold"/>
                        </a:rPr>
                        <a:t>Dataset Overview</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r h="821267">
                <a:tc>
                  <a:txBody>
                    <a:bodyPr anchor="t" rtlCol="false"/>
                    <a:lstStyle/>
                    <a:p>
                      <a:pPr algn="l">
                        <a:lnSpc>
                          <a:spcPts val="2799"/>
                        </a:lnSpc>
                        <a:defRPr/>
                      </a:pPr>
                      <a:r>
                        <a:rPr lang="en-US" sz="1999" b="true">
                          <a:solidFill>
                            <a:srgbClr val="000000"/>
                          </a:solidFill>
                          <a:latin typeface="Garet Bold"/>
                          <a:ea typeface="Garet Bold"/>
                          <a:cs typeface="Garet Bold"/>
                          <a:sym typeface="Garet Bold"/>
                        </a:rPr>
                        <a:t>04</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799"/>
                        </a:lnSpc>
                        <a:defRPr/>
                      </a:pPr>
                      <a:r>
                        <a:rPr lang="en-US" sz="1999" b="true">
                          <a:solidFill>
                            <a:srgbClr val="000000"/>
                          </a:solidFill>
                          <a:latin typeface="Garet Bold"/>
                          <a:ea typeface="Garet Bold"/>
                          <a:cs typeface="Garet Bold"/>
                          <a:sym typeface="Garet Bold"/>
                        </a:rPr>
                        <a:t>Data Cleaning &amp; Preprocessing</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r h="821267">
                <a:tc>
                  <a:txBody>
                    <a:bodyPr anchor="t" rtlCol="false"/>
                    <a:lstStyle/>
                    <a:p>
                      <a:pPr algn="l">
                        <a:lnSpc>
                          <a:spcPts val="2799"/>
                        </a:lnSpc>
                        <a:defRPr/>
                      </a:pPr>
                      <a:r>
                        <a:rPr lang="en-US" sz="1999" b="true">
                          <a:solidFill>
                            <a:srgbClr val="000000"/>
                          </a:solidFill>
                          <a:latin typeface="Garet Bold"/>
                          <a:ea typeface="Garet Bold"/>
                          <a:cs typeface="Garet Bold"/>
                          <a:sym typeface="Garet Bold"/>
                        </a:rPr>
                        <a:t>05</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799"/>
                        </a:lnSpc>
                        <a:defRPr/>
                      </a:pPr>
                      <a:r>
                        <a:rPr lang="en-US" sz="1999" b="true">
                          <a:solidFill>
                            <a:srgbClr val="000000"/>
                          </a:solidFill>
                          <a:latin typeface="Garet Bold"/>
                          <a:ea typeface="Garet Bold"/>
                          <a:cs typeface="Garet Bold"/>
                          <a:sym typeface="Garet Bold"/>
                        </a:rPr>
                        <a:t>Exploratory Data Analysis (EDA)</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r h="821267">
                <a:tc>
                  <a:txBody>
                    <a:bodyPr anchor="t" rtlCol="false"/>
                    <a:lstStyle/>
                    <a:p>
                      <a:pPr algn="l">
                        <a:lnSpc>
                          <a:spcPts val="2799"/>
                        </a:lnSpc>
                        <a:defRPr/>
                      </a:pPr>
                      <a:r>
                        <a:rPr lang="en-US" sz="1999" b="true">
                          <a:solidFill>
                            <a:srgbClr val="000000"/>
                          </a:solidFill>
                          <a:latin typeface="Garet Bold"/>
                          <a:ea typeface="Garet Bold"/>
                          <a:cs typeface="Garet Bold"/>
                          <a:sym typeface="Garet Bold"/>
                        </a:rPr>
                        <a:t>06</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799"/>
                        </a:lnSpc>
                        <a:defRPr/>
                      </a:pPr>
                      <a:r>
                        <a:rPr lang="en-US" sz="1999" b="true">
                          <a:solidFill>
                            <a:srgbClr val="000000"/>
                          </a:solidFill>
                          <a:latin typeface="Garet Bold"/>
                          <a:ea typeface="Garet Bold"/>
                          <a:cs typeface="Garet Bold"/>
                          <a:sym typeface="Garet Bold"/>
                        </a:rPr>
                        <a:t>Model Building</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r h="821267">
                <a:tc>
                  <a:txBody>
                    <a:bodyPr anchor="t" rtlCol="false"/>
                    <a:lstStyle/>
                    <a:p>
                      <a:pPr algn="l">
                        <a:lnSpc>
                          <a:spcPts val="2799"/>
                        </a:lnSpc>
                        <a:defRPr/>
                      </a:pPr>
                      <a:r>
                        <a:rPr lang="en-US" sz="1999" b="true">
                          <a:solidFill>
                            <a:srgbClr val="000000"/>
                          </a:solidFill>
                          <a:latin typeface="Garet Bold"/>
                          <a:ea typeface="Garet Bold"/>
                          <a:cs typeface="Garet Bold"/>
                          <a:sym typeface="Garet Bold"/>
                        </a:rPr>
                        <a:t>07</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799"/>
                        </a:lnSpc>
                        <a:defRPr/>
                      </a:pPr>
                      <a:r>
                        <a:rPr lang="en-US" sz="1999" b="true">
                          <a:solidFill>
                            <a:srgbClr val="000000"/>
                          </a:solidFill>
                          <a:latin typeface="Garet Bold"/>
                          <a:ea typeface="Garet Bold"/>
                          <a:cs typeface="Garet Bold"/>
                          <a:sym typeface="Garet Bold"/>
                        </a:rPr>
                        <a:t>Feature Importance</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r h="821267">
                <a:tc>
                  <a:txBody>
                    <a:bodyPr anchor="t" rtlCol="false"/>
                    <a:lstStyle/>
                    <a:p>
                      <a:pPr algn="l">
                        <a:lnSpc>
                          <a:spcPts val="2799"/>
                        </a:lnSpc>
                        <a:defRPr/>
                      </a:pPr>
                      <a:r>
                        <a:rPr lang="en-US" sz="1999" b="true">
                          <a:solidFill>
                            <a:srgbClr val="000000"/>
                          </a:solidFill>
                          <a:latin typeface="Garet Bold"/>
                          <a:ea typeface="Garet Bold"/>
                          <a:cs typeface="Garet Bold"/>
                          <a:sym typeface="Garet Bold"/>
                        </a:rPr>
                        <a:t>08</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799"/>
                        </a:lnSpc>
                        <a:defRPr/>
                      </a:pPr>
                      <a:r>
                        <a:rPr lang="en-US" sz="1999" b="true">
                          <a:solidFill>
                            <a:srgbClr val="000000"/>
                          </a:solidFill>
                          <a:latin typeface="Garet Bold"/>
                          <a:ea typeface="Garet Bold"/>
                          <a:cs typeface="Garet Bold"/>
                          <a:sym typeface="Garet Bold"/>
                        </a:rPr>
                        <a:t>Deployment</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r h="821267">
                <a:tc>
                  <a:txBody>
                    <a:bodyPr anchor="t" rtlCol="false"/>
                    <a:lstStyle/>
                    <a:p>
                      <a:pPr algn="l">
                        <a:lnSpc>
                          <a:spcPts val="2799"/>
                        </a:lnSpc>
                        <a:defRPr/>
                      </a:pPr>
                      <a:r>
                        <a:rPr lang="en-US" sz="1999" b="true">
                          <a:solidFill>
                            <a:srgbClr val="000000"/>
                          </a:solidFill>
                          <a:latin typeface="Garet Bold"/>
                          <a:ea typeface="Garet Bold"/>
                          <a:cs typeface="Garet Bold"/>
                          <a:sym typeface="Garet Bold"/>
                        </a:rPr>
                        <a:t>09</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799"/>
                        </a:lnSpc>
                        <a:defRPr/>
                      </a:pPr>
                      <a:r>
                        <a:rPr lang="en-US" sz="1999" b="true">
                          <a:solidFill>
                            <a:srgbClr val="000000"/>
                          </a:solidFill>
                          <a:latin typeface="Garet Bold"/>
                          <a:ea typeface="Garet Bold"/>
                          <a:cs typeface="Garet Bold"/>
                          <a:sym typeface="Garet Bold"/>
                        </a:rPr>
                        <a:t>Business Recommendations</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bl>
          </a:graphicData>
        </a:graphic>
      </p:graphicFrame>
      <p:sp>
        <p:nvSpPr>
          <p:cNvPr name="Freeform 4" id="4"/>
          <p:cNvSpPr/>
          <p:nvPr/>
        </p:nvSpPr>
        <p:spPr>
          <a:xfrm flipH="false" flipV="false" rot="0">
            <a:off x="-706637" y="1559650"/>
            <a:ext cx="9125543" cy="7167700"/>
          </a:xfrm>
          <a:custGeom>
            <a:avLst/>
            <a:gdLst/>
            <a:ahLst/>
            <a:cxnLst/>
            <a:rect r="r" b="b" t="t" l="l"/>
            <a:pathLst>
              <a:path h="7167700" w="9125543">
                <a:moveTo>
                  <a:pt x="0" y="0"/>
                </a:moveTo>
                <a:lnTo>
                  <a:pt x="9125544" y="0"/>
                </a:lnTo>
                <a:lnTo>
                  <a:pt x="9125544" y="7167700"/>
                </a:lnTo>
                <a:lnTo>
                  <a:pt x="0" y="71677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4799313" y="0"/>
            <a:ext cx="3488687" cy="1198840"/>
          </a:xfrm>
          <a:custGeom>
            <a:avLst/>
            <a:gdLst/>
            <a:ahLst/>
            <a:cxnLst/>
            <a:rect r="r" b="b" t="t" l="l"/>
            <a:pathLst>
              <a:path h="1198840" w="3488687">
                <a:moveTo>
                  <a:pt x="0" y="0"/>
                </a:moveTo>
                <a:lnTo>
                  <a:pt x="3488687" y="0"/>
                </a:lnTo>
                <a:lnTo>
                  <a:pt x="3488687" y="1198840"/>
                </a:lnTo>
                <a:lnTo>
                  <a:pt x="0" y="119884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6" id="6"/>
          <p:cNvSpPr txBox="true"/>
          <p:nvPr/>
        </p:nvSpPr>
        <p:spPr>
          <a:xfrm rot="0">
            <a:off x="1604641" y="2439692"/>
            <a:ext cx="6531462" cy="785704"/>
          </a:xfrm>
          <a:prstGeom prst="rect">
            <a:avLst/>
          </a:prstGeom>
        </p:spPr>
        <p:txBody>
          <a:bodyPr anchor="t" rtlCol="false" tIns="0" lIns="0" bIns="0" rIns="0">
            <a:spAutoFit/>
          </a:bodyPr>
          <a:lstStyle/>
          <a:p>
            <a:pPr algn="just" marL="0" indent="0" lvl="0">
              <a:lnSpc>
                <a:spcPts val="5808"/>
              </a:lnSpc>
              <a:spcBef>
                <a:spcPct val="0"/>
              </a:spcBef>
            </a:pPr>
            <a:r>
              <a:rPr lang="en-US" sz="5808" spc="-458">
                <a:solidFill>
                  <a:srgbClr val="FFFFFF"/>
                </a:solidFill>
                <a:latin typeface="Archivo Black"/>
                <a:ea typeface="Archivo Black"/>
                <a:cs typeface="Archivo Black"/>
                <a:sym typeface="Archivo Black"/>
              </a:rPr>
              <a:t>Agenda</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3364" r="0" b="-3364"/>
            </a:stretch>
          </a:blipFill>
        </p:spPr>
      </p:sp>
      <p:sp>
        <p:nvSpPr>
          <p:cNvPr name="Freeform 3" id="3"/>
          <p:cNvSpPr/>
          <p:nvPr/>
        </p:nvSpPr>
        <p:spPr>
          <a:xfrm flipH="false" flipV="false" rot="0">
            <a:off x="15153155" y="368489"/>
            <a:ext cx="2671070" cy="1549221"/>
          </a:xfrm>
          <a:custGeom>
            <a:avLst/>
            <a:gdLst/>
            <a:ahLst/>
            <a:cxnLst/>
            <a:rect r="r" b="b" t="t" l="l"/>
            <a:pathLst>
              <a:path h="1549221" w="2671070">
                <a:moveTo>
                  <a:pt x="0" y="0"/>
                </a:moveTo>
                <a:lnTo>
                  <a:pt x="2671070" y="0"/>
                </a:lnTo>
                <a:lnTo>
                  <a:pt x="2671070" y="1549220"/>
                </a:lnTo>
                <a:lnTo>
                  <a:pt x="0" y="154922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3689617" y="3893428"/>
            <a:ext cx="10908767" cy="2378203"/>
          </a:xfrm>
          <a:custGeom>
            <a:avLst/>
            <a:gdLst/>
            <a:ahLst/>
            <a:cxnLst/>
            <a:rect r="r" b="b" t="t" l="l"/>
            <a:pathLst>
              <a:path h="2378203" w="10908767">
                <a:moveTo>
                  <a:pt x="0" y="0"/>
                </a:moveTo>
                <a:lnTo>
                  <a:pt x="10908766" y="0"/>
                </a:lnTo>
                <a:lnTo>
                  <a:pt x="10908766" y="2378203"/>
                </a:lnTo>
                <a:lnTo>
                  <a:pt x="0" y="2378203"/>
                </a:lnTo>
                <a:lnTo>
                  <a:pt x="0" y="0"/>
                </a:lnTo>
                <a:close/>
              </a:path>
            </a:pathLst>
          </a:custGeom>
          <a:blipFill>
            <a:blip r:embed="rId6"/>
            <a:stretch>
              <a:fillRect l="-160" t="-6920" r="-3437" b="0"/>
            </a:stretch>
          </a:blipFill>
        </p:spPr>
      </p:sp>
      <p:sp>
        <p:nvSpPr>
          <p:cNvPr name="TextBox 5" id="5"/>
          <p:cNvSpPr txBox="true"/>
          <p:nvPr/>
        </p:nvSpPr>
        <p:spPr>
          <a:xfrm rot="0">
            <a:off x="1028700" y="463739"/>
            <a:ext cx="7279037" cy="785704"/>
          </a:xfrm>
          <a:prstGeom prst="rect">
            <a:avLst/>
          </a:prstGeom>
        </p:spPr>
        <p:txBody>
          <a:bodyPr anchor="t" rtlCol="false" tIns="0" lIns="0" bIns="0" rIns="0">
            <a:spAutoFit/>
          </a:bodyPr>
          <a:lstStyle/>
          <a:p>
            <a:pPr algn="l" marL="0" indent="0" lvl="0">
              <a:lnSpc>
                <a:spcPts val="5808"/>
              </a:lnSpc>
              <a:spcBef>
                <a:spcPct val="0"/>
              </a:spcBef>
            </a:pPr>
            <a:r>
              <a:rPr lang="en-US" sz="5808" spc="-458">
                <a:solidFill>
                  <a:srgbClr val="000000"/>
                </a:solidFill>
                <a:latin typeface="Archivo Black"/>
                <a:ea typeface="Archivo Black"/>
                <a:cs typeface="Archivo Black"/>
                <a:sym typeface="Archivo Black"/>
              </a:rPr>
              <a:t>Introduction</a:t>
            </a:r>
          </a:p>
        </p:txBody>
      </p:sp>
      <p:sp>
        <p:nvSpPr>
          <p:cNvPr name="TextBox 6" id="6"/>
          <p:cNvSpPr txBox="true"/>
          <p:nvPr/>
        </p:nvSpPr>
        <p:spPr>
          <a:xfrm rot="0">
            <a:off x="1028700" y="2366253"/>
            <a:ext cx="14413747" cy="860426"/>
          </a:xfrm>
          <a:prstGeom prst="rect">
            <a:avLst/>
          </a:prstGeom>
        </p:spPr>
        <p:txBody>
          <a:bodyPr anchor="t" rtlCol="false" tIns="0" lIns="0" bIns="0" rIns="0">
            <a:spAutoFit/>
          </a:bodyPr>
          <a:lstStyle/>
          <a:p>
            <a:pPr algn="l">
              <a:lnSpc>
                <a:spcPts val="3499"/>
              </a:lnSpc>
              <a:spcBef>
                <a:spcPct val="0"/>
              </a:spcBef>
            </a:pPr>
            <a:r>
              <a:rPr lang="en-US" sz="2499">
                <a:solidFill>
                  <a:srgbClr val="000000"/>
                </a:solidFill>
                <a:latin typeface="Garet"/>
                <a:ea typeface="Garet"/>
                <a:cs typeface="Garet"/>
                <a:sym typeface="Garet"/>
              </a:rPr>
              <a:t>Churn = Customer loss</a:t>
            </a:r>
          </a:p>
          <a:p>
            <a:pPr algn="l">
              <a:lnSpc>
                <a:spcPts val="3499"/>
              </a:lnSpc>
              <a:spcBef>
                <a:spcPct val="0"/>
              </a:spcBef>
            </a:pPr>
            <a:r>
              <a:rPr lang="en-US" sz="2499">
                <a:solidFill>
                  <a:srgbClr val="000000"/>
                </a:solidFill>
                <a:latin typeface="Garet"/>
                <a:ea typeface="Garet"/>
                <a:cs typeface="Garet"/>
                <a:sym typeface="Garet"/>
              </a:rPr>
              <a:t> It’s often measured as a percentage of customers lost during a specific time period.</a:t>
            </a:r>
          </a:p>
        </p:txBody>
      </p:sp>
      <p:sp>
        <p:nvSpPr>
          <p:cNvPr name="TextBox 7" id="7"/>
          <p:cNvSpPr txBox="true"/>
          <p:nvPr/>
        </p:nvSpPr>
        <p:spPr>
          <a:xfrm rot="0">
            <a:off x="1028700" y="1870084"/>
            <a:ext cx="8823356" cy="422275"/>
          </a:xfrm>
          <a:prstGeom prst="rect">
            <a:avLst/>
          </a:prstGeom>
        </p:spPr>
        <p:txBody>
          <a:bodyPr anchor="t" rtlCol="false" tIns="0" lIns="0" bIns="0" rIns="0">
            <a:spAutoFit/>
          </a:bodyPr>
          <a:lstStyle/>
          <a:p>
            <a:pPr algn="l">
              <a:lnSpc>
                <a:spcPts val="3499"/>
              </a:lnSpc>
              <a:spcBef>
                <a:spcPct val="0"/>
              </a:spcBef>
            </a:pPr>
            <a:r>
              <a:rPr lang="en-US" b="true" sz="2499">
                <a:solidFill>
                  <a:srgbClr val="000000"/>
                </a:solidFill>
                <a:latin typeface="Garet Bold"/>
                <a:ea typeface="Garet Bold"/>
                <a:cs typeface="Garet Bold"/>
                <a:sym typeface="Garet Bold"/>
              </a:rPr>
              <a:t>What is churn?</a:t>
            </a:r>
          </a:p>
        </p:txBody>
      </p:sp>
      <p:sp>
        <p:nvSpPr>
          <p:cNvPr name="TextBox 8" id="8"/>
          <p:cNvSpPr txBox="true"/>
          <p:nvPr/>
        </p:nvSpPr>
        <p:spPr>
          <a:xfrm rot="0">
            <a:off x="900786" y="7083424"/>
            <a:ext cx="15587904" cy="2174876"/>
          </a:xfrm>
          <a:prstGeom prst="rect">
            <a:avLst/>
          </a:prstGeom>
        </p:spPr>
        <p:txBody>
          <a:bodyPr anchor="t" rtlCol="false" tIns="0" lIns="0" bIns="0" rIns="0">
            <a:spAutoFit/>
          </a:bodyPr>
          <a:lstStyle/>
          <a:p>
            <a:pPr algn="l">
              <a:lnSpc>
                <a:spcPts val="3499"/>
              </a:lnSpc>
              <a:spcBef>
                <a:spcPct val="0"/>
              </a:spcBef>
            </a:pPr>
            <a:r>
              <a:rPr lang="en-US" b="true" sz="2499">
                <a:solidFill>
                  <a:srgbClr val="000000"/>
                </a:solidFill>
                <a:latin typeface="Garet Bold"/>
                <a:ea typeface="Garet Bold"/>
                <a:cs typeface="Garet Bold"/>
                <a:sym typeface="Garet Bold"/>
              </a:rPr>
              <a:t>🧠 Why Churn Matters:</a:t>
            </a:r>
          </a:p>
          <a:p>
            <a:pPr algn="l" marL="539746" indent="-269873" lvl="1">
              <a:lnSpc>
                <a:spcPts val="3499"/>
              </a:lnSpc>
              <a:spcBef>
                <a:spcPct val="0"/>
              </a:spcBef>
              <a:buFont typeface="Arial"/>
              <a:buChar char="•"/>
            </a:pPr>
            <a:r>
              <a:rPr lang="en-US" sz="2499">
                <a:solidFill>
                  <a:srgbClr val="000000"/>
                </a:solidFill>
                <a:latin typeface="Garet"/>
                <a:ea typeface="Garet"/>
                <a:cs typeface="Garet"/>
                <a:sym typeface="Garet"/>
              </a:rPr>
              <a:t>It's more expensive to acquire a new customer than to keep an existing one.</a:t>
            </a:r>
          </a:p>
          <a:p>
            <a:pPr algn="l" marL="539746" indent="-269873" lvl="1">
              <a:lnSpc>
                <a:spcPts val="3499"/>
              </a:lnSpc>
              <a:spcBef>
                <a:spcPct val="0"/>
              </a:spcBef>
              <a:buFont typeface="Arial"/>
              <a:buChar char="•"/>
            </a:pPr>
            <a:r>
              <a:rPr lang="en-US" sz="2499">
                <a:solidFill>
                  <a:srgbClr val="000000"/>
                </a:solidFill>
                <a:latin typeface="Garet"/>
                <a:ea typeface="Garet"/>
                <a:cs typeface="Garet"/>
                <a:sym typeface="Garet"/>
              </a:rPr>
              <a:t>High churn often signals poor customer experience, pricing issues, or lack of product fit.</a:t>
            </a:r>
          </a:p>
          <a:p>
            <a:pPr algn="l" marL="539746" indent="-269873" lvl="1">
              <a:lnSpc>
                <a:spcPts val="3499"/>
              </a:lnSpc>
              <a:spcBef>
                <a:spcPct val="0"/>
              </a:spcBef>
              <a:buFont typeface="Arial"/>
              <a:buChar char="•"/>
            </a:pPr>
            <a:r>
              <a:rPr lang="en-US" sz="2499">
                <a:solidFill>
                  <a:srgbClr val="000000"/>
                </a:solidFill>
                <a:latin typeface="Garet"/>
                <a:ea typeface="Garet"/>
                <a:cs typeface="Garet"/>
                <a:sym typeface="Garet"/>
              </a:rPr>
              <a:t>Reducing churn = increased revenue, customer lifetime value, and brand loyalty.</a:t>
            </a:r>
          </a:p>
          <a:p>
            <a:pPr algn="l">
              <a:lnSpc>
                <a:spcPts val="3499"/>
              </a:lnSpc>
              <a:spcBef>
                <a:spcPct val="0"/>
              </a:spcBef>
            </a:pP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3364" r="0" b="-3364"/>
            </a:stretch>
          </a:blipFill>
        </p:spPr>
      </p:sp>
      <p:sp>
        <p:nvSpPr>
          <p:cNvPr name="TextBox 3" id="3"/>
          <p:cNvSpPr txBox="true"/>
          <p:nvPr/>
        </p:nvSpPr>
        <p:spPr>
          <a:xfrm rot="0">
            <a:off x="1028700" y="463739"/>
            <a:ext cx="7279037" cy="785704"/>
          </a:xfrm>
          <a:prstGeom prst="rect">
            <a:avLst/>
          </a:prstGeom>
        </p:spPr>
        <p:txBody>
          <a:bodyPr anchor="t" rtlCol="false" tIns="0" lIns="0" bIns="0" rIns="0">
            <a:spAutoFit/>
          </a:bodyPr>
          <a:lstStyle/>
          <a:p>
            <a:pPr algn="l" marL="0" indent="0" lvl="0">
              <a:lnSpc>
                <a:spcPts val="5808"/>
              </a:lnSpc>
              <a:spcBef>
                <a:spcPct val="0"/>
              </a:spcBef>
            </a:pPr>
            <a:r>
              <a:rPr lang="en-US" sz="5808" spc="-458">
                <a:solidFill>
                  <a:srgbClr val="000000"/>
                </a:solidFill>
                <a:latin typeface="Archivo Black"/>
                <a:ea typeface="Archivo Black"/>
                <a:cs typeface="Archivo Black"/>
                <a:sym typeface="Archivo Black"/>
              </a:rPr>
              <a:t>Problem Statement</a:t>
            </a:r>
          </a:p>
        </p:txBody>
      </p:sp>
      <p:grpSp>
        <p:nvGrpSpPr>
          <p:cNvPr name="Group 4" id="4"/>
          <p:cNvGrpSpPr/>
          <p:nvPr/>
        </p:nvGrpSpPr>
        <p:grpSpPr>
          <a:xfrm rot="0">
            <a:off x="1022240" y="5985702"/>
            <a:ext cx="14570995" cy="2762097"/>
            <a:chOff x="0" y="0"/>
            <a:chExt cx="3837628" cy="727466"/>
          </a:xfrm>
        </p:grpSpPr>
        <p:sp>
          <p:nvSpPr>
            <p:cNvPr name="Freeform 5" id="5"/>
            <p:cNvSpPr/>
            <p:nvPr/>
          </p:nvSpPr>
          <p:spPr>
            <a:xfrm flipH="false" flipV="false" rot="0">
              <a:off x="0" y="0"/>
              <a:ext cx="3837628" cy="727466"/>
            </a:xfrm>
            <a:custGeom>
              <a:avLst/>
              <a:gdLst/>
              <a:ahLst/>
              <a:cxnLst/>
              <a:rect r="r" b="b" t="t" l="l"/>
              <a:pathLst>
                <a:path h="727466" w="3837628">
                  <a:moveTo>
                    <a:pt x="27098" y="0"/>
                  </a:moveTo>
                  <a:lnTo>
                    <a:pt x="3810531" y="0"/>
                  </a:lnTo>
                  <a:cubicBezTo>
                    <a:pt x="3817717" y="0"/>
                    <a:pt x="3824610" y="2855"/>
                    <a:pt x="3829691" y="7937"/>
                  </a:cubicBezTo>
                  <a:cubicBezTo>
                    <a:pt x="3834773" y="13018"/>
                    <a:pt x="3837628" y="19911"/>
                    <a:pt x="3837628" y="27098"/>
                  </a:cubicBezTo>
                  <a:lnTo>
                    <a:pt x="3837628" y="700368"/>
                  </a:lnTo>
                  <a:cubicBezTo>
                    <a:pt x="3837628" y="715334"/>
                    <a:pt x="3825496" y="727466"/>
                    <a:pt x="3810531" y="727466"/>
                  </a:cubicBezTo>
                  <a:lnTo>
                    <a:pt x="27098" y="727466"/>
                  </a:lnTo>
                  <a:cubicBezTo>
                    <a:pt x="19911" y="727466"/>
                    <a:pt x="13018" y="724611"/>
                    <a:pt x="7937" y="719529"/>
                  </a:cubicBezTo>
                  <a:cubicBezTo>
                    <a:pt x="2855" y="714447"/>
                    <a:pt x="0" y="707555"/>
                    <a:pt x="0" y="700368"/>
                  </a:cubicBezTo>
                  <a:lnTo>
                    <a:pt x="0" y="27098"/>
                  </a:lnTo>
                  <a:cubicBezTo>
                    <a:pt x="0" y="19911"/>
                    <a:pt x="2855" y="13018"/>
                    <a:pt x="7937" y="7937"/>
                  </a:cubicBezTo>
                  <a:cubicBezTo>
                    <a:pt x="13018" y="2855"/>
                    <a:pt x="19911" y="0"/>
                    <a:pt x="27098" y="0"/>
                  </a:cubicBezTo>
                  <a:close/>
                </a:path>
              </a:pathLst>
            </a:custGeom>
            <a:solidFill>
              <a:srgbClr val="FFFFFF"/>
            </a:solidFill>
          </p:spPr>
        </p:sp>
        <p:sp>
          <p:nvSpPr>
            <p:cNvPr name="TextBox 6" id="6"/>
            <p:cNvSpPr txBox="true"/>
            <p:nvPr/>
          </p:nvSpPr>
          <p:spPr>
            <a:xfrm>
              <a:off x="0" y="-66675"/>
              <a:ext cx="3837628" cy="794141"/>
            </a:xfrm>
            <a:prstGeom prst="rect">
              <a:avLst/>
            </a:prstGeom>
          </p:spPr>
          <p:txBody>
            <a:bodyPr anchor="ctr" rtlCol="false" tIns="50800" lIns="50800" bIns="50800" rIns="50800"/>
            <a:lstStyle/>
            <a:p>
              <a:pPr algn="l">
                <a:lnSpc>
                  <a:spcPts val="3359"/>
                </a:lnSpc>
              </a:pPr>
              <a:r>
                <a:rPr lang="en-US" sz="2399">
                  <a:solidFill>
                    <a:srgbClr val="000000"/>
                  </a:solidFill>
                  <a:latin typeface="Poppins"/>
                  <a:ea typeface="Poppins"/>
                  <a:cs typeface="Poppins"/>
                  <a:sym typeface="Poppins"/>
                </a:rPr>
                <a:t>The objective of this project is to:</a:t>
              </a:r>
            </a:p>
            <a:p>
              <a:pPr algn="l" marL="518158" indent="-259079" lvl="1">
                <a:lnSpc>
                  <a:spcPts val="3359"/>
                </a:lnSpc>
                <a:buFont typeface="Arial"/>
                <a:buChar char="•"/>
              </a:pPr>
              <a:r>
                <a:rPr lang="en-US" sz="2399">
                  <a:solidFill>
                    <a:srgbClr val="000000"/>
                  </a:solidFill>
                  <a:latin typeface="Poppins"/>
                  <a:ea typeface="Poppins"/>
                  <a:cs typeface="Poppins"/>
                  <a:sym typeface="Poppins"/>
                </a:rPr>
                <a:t>🔍 Analyze customer data to uncover patterns and trends related to churn</a:t>
              </a:r>
            </a:p>
            <a:p>
              <a:pPr algn="l" marL="518158" indent="-259079" lvl="1">
                <a:lnSpc>
                  <a:spcPts val="3359"/>
                </a:lnSpc>
                <a:buFont typeface="Arial"/>
                <a:buChar char="•"/>
              </a:pPr>
              <a:r>
                <a:rPr lang="en-US" sz="2399">
                  <a:solidFill>
                    <a:srgbClr val="000000"/>
                  </a:solidFill>
                  <a:latin typeface="Poppins"/>
                  <a:ea typeface="Poppins"/>
                  <a:cs typeface="Poppins"/>
                  <a:sym typeface="Poppins"/>
                </a:rPr>
                <a:t>📈 Identify key drivers that influence the likelihood of customer churn</a:t>
              </a:r>
            </a:p>
            <a:p>
              <a:pPr algn="l" marL="518158" indent="-259079" lvl="1">
                <a:lnSpc>
                  <a:spcPts val="3359"/>
                </a:lnSpc>
                <a:buFont typeface="Arial"/>
                <a:buChar char="•"/>
              </a:pPr>
              <a:r>
                <a:rPr lang="en-US" sz="2399">
                  <a:solidFill>
                    <a:srgbClr val="000000"/>
                  </a:solidFill>
                  <a:latin typeface="Poppins"/>
                  <a:ea typeface="Poppins"/>
                  <a:cs typeface="Poppins"/>
                  <a:sym typeface="Poppins"/>
                </a:rPr>
                <a:t>🤖 Build and evaluate a predictive model to identify customers at high risk of churning</a:t>
              </a:r>
            </a:p>
            <a:p>
              <a:pPr algn="l" marL="518158" indent="-259079" lvl="1">
                <a:lnSpc>
                  <a:spcPts val="3359"/>
                </a:lnSpc>
                <a:buFont typeface="Arial"/>
                <a:buChar char="•"/>
              </a:pPr>
              <a:r>
                <a:rPr lang="en-US" sz="2399">
                  <a:solidFill>
                    <a:srgbClr val="000000"/>
                  </a:solidFill>
                  <a:latin typeface="Poppins"/>
                  <a:ea typeface="Poppins"/>
                  <a:cs typeface="Poppins"/>
                  <a:sym typeface="Poppins"/>
                </a:rPr>
                <a:t>🧩 Provide strategic insights and recommendations to support proactive customer retention efforts</a:t>
              </a:r>
            </a:p>
          </p:txBody>
        </p:sp>
      </p:grpSp>
      <p:sp>
        <p:nvSpPr>
          <p:cNvPr name="TextBox 7" id="7"/>
          <p:cNvSpPr txBox="true"/>
          <p:nvPr/>
        </p:nvSpPr>
        <p:spPr>
          <a:xfrm rot="0">
            <a:off x="1028700" y="5242116"/>
            <a:ext cx="8823356" cy="448311"/>
          </a:xfrm>
          <a:prstGeom prst="rect">
            <a:avLst/>
          </a:prstGeom>
        </p:spPr>
        <p:txBody>
          <a:bodyPr anchor="t" rtlCol="false" tIns="0" lIns="0" bIns="0" rIns="0">
            <a:spAutoFit/>
          </a:bodyPr>
          <a:lstStyle/>
          <a:p>
            <a:pPr algn="l">
              <a:lnSpc>
                <a:spcPts val="3639"/>
              </a:lnSpc>
              <a:spcBef>
                <a:spcPct val="0"/>
              </a:spcBef>
            </a:pPr>
            <a:r>
              <a:rPr lang="en-US" b="true" sz="2599">
                <a:solidFill>
                  <a:srgbClr val="000000"/>
                </a:solidFill>
                <a:latin typeface="Garet Bold"/>
                <a:ea typeface="Garet Bold"/>
                <a:cs typeface="Garet Bold"/>
                <a:sym typeface="Garet Bold"/>
              </a:rPr>
              <a:t>Project Objective</a:t>
            </a:r>
          </a:p>
        </p:txBody>
      </p:sp>
      <p:sp>
        <p:nvSpPr>
          <p:cNvPr name="TextBox 8" id="8"/>
          <p:cNvSpPr txBox="true"/>
          <p:nvPr/>
        </p:nvSpPr>
        <p:spPr>
          <a:xfrm rot="0">
            <a:off x="1028700" y="1653156"/>
            <a:ext cx="8823356" cy="422275"/>
          </a:xfrm>
          <a:prstGeom prst="rect">
            <a:avLst/>
          </a:prstGeom>
        </p:spPr>
        <p:txBody>
          <a:bodyPr anchor="t" rtlCol="false" tIns="0" lIns="0" bIns="0" rIns="0">
            <a:spAutoFit/>
          </a:bodyPr>
          <a:lstStyle/>
          <a:p>
            <a:pPr algn="l">
              <a:lnSpc>
                <a:spcPts val="3499"/>
              </a:lnSpc>
              <a:spcBef>
                <a:spcPct val="0"/>
              </a:spcBef>
            </a:pPr>
            <a:r>
              <a:rPr lang="en-US" b="true" sz="2499">
                <a:solidFill>
                  <a:srgbClr val="000000"/>
                </a:solidFill>
                <a:latin typeface="Garet Bold"/>
                <a:ea typeface="Garet Bold"/>
                <a:cs typeface="Garet Bold"/>
                <a:sym typeface="Garet Bold"/>
              </a:rPr>
              <a:t>Business Objective</a:t>
            </a:r>
          </a:p>
        </p:txBody>
      </p:sp>
      <p:grpSp>
        <p:nvGrpSpPr>
          <p:cNvPr name="Group 9" id="9"/>
          <p:cNvGrpSpPr/>
          <p:nvPr/>
        </p:nvGrpSpPr>
        <p:grpSpPr>
          <a:xfrm rot="0">
            <a:off x="842427" y="2373743"/>
            <a:ext cx="14599216" cy="1504797"/>
            <a:chOff x="0" y="0"/>
            <a:chExt cx="3845061" cy="396325"/>
          </a:xfrm>
        </p:grpSpPr>
        <p:sp>
          <p:nvSpPr>
            <p:cNvPr name="Freeform 10" id="10"/>
            <p:cNvSpPr/>
            <p:nvPr/>
          </p:nvSpPr>
          <p:spPr>
            <a:xfrm flipH="false" flipV="false" rot="0">
              <a:off x="0" y="0"/>
              <a:ext cx="3845061" cy="396325"/>
            </a:xfrm>
            <a:custGeom>
              <a:avLst/>
              <a:gdLst/>
              <a:ahLst/>
              <a:cxnLst/>
              <a:rect r="r" b="b" t="t" l="l"/>
              <a:pathLst>
                <a:path h="396325" w="3845061">
                  <a:moveTo>
                    <a:pt x="27045" y="0"/>
                  </a:moveTo>
                  <a:lnTo>
                    <a:pt x="3818016" y="0"/>
                  </a:lnTo>
                  <a:cubicBezTo>
                    <a:pt x="3825189" y="0"/>
                    <a:pt x="3832068" y="2849"/>
                    <a:pt x="3837140" y="7921"/>
                  </a:cubicBezTo>
                  <a:cubicBezTo>
                    <a:pt x="3842212" y="12993"/>
                    <a:pt x="3845061" y="19872"/>
                    <a:pt x="3845061" y="27045"/>
                  </a:cubicBezTo>
                  <a:lnTo>
                    <a:pt x="3845061" y="369280"/>
                  </a:lnTo>
                  <a:cubicBezTo>
                    <a:pt x="3845061" y="384217"/>
                    <a:pt x="3832952" y="396325"/>
                    <a:pt x="3818016" y="396325"/>
                  </a:cubicBezTo>
                  <a:lnTo>
                    <a:pt x="27045" y="396325"/>
                  </a:lnTo>
                  <a:cubicBezTo>
                    <a:pt x="19872" y="396325"/>
                    <a:pt x="12993" y="393476"/>
                    <a:pt x="7921" y="388404"/>
                  </a:cubicBezTo>
                  <a:cubicBezTo>
                    <a:pt x="2849" y="383332"/>
                    <a:pt x="0" y="376453"/>
                    <a:pt x="0" y="369280"/>
                  </a:cubicBezTo>
                  <a:lnTo>
                    <a:pt x="0" y="27045"/>
                  </a:lnTo>
                  <a:cubicBezTo>
                    <a:pt x="0" y="19872"/>
                    <a:pt x="2849" y="12993"/>
                    <a:pt x="7921" y="7921"/>
                  </a:cubicBezTo>
                  <a:cubicBezTo>
                    <a:pt x="12993" y="2849"/>
                    <a:pt x="19872" y="0"/>
                    <a:pt x="27045" y="0"/>
                  </a:cubicBezTo>
                  <a:close/>
                </a:path>
              </a:pathLst>
            </a:custGeom>
            <a:solidFill>
              <a:srgbClr val="FFFFFF"/>
            </a:solidFill>
          </p:spPr>
        </p:sp>
        <p:sp>
          <p:nvSpPr>
            <p:cNvPr name="TextBox 11" id="11"/>
            <p:cNvSpPr txBox="true"/>
            <p:nvPr/>
          </p:nvSpPr>
          <p:spPr>
            <a:xfrm>
              <a:off x="0" y="-66675"/>
              <a:ext cx="3845061" cy="463000"/>
            </a:xfrm>
            <a:prstGeom prst="rect">
              <a:avLst/>
            </a:prstGeom>
          </p:spPr>
          <p:txBody>
            <a:bodyPr anchor="ctr" rtlCol="false" tIns="50800" lIns="50800" bIns="50800" rIns="50800"/>
            <a:lstStyle/>
            <a:p>
              <a:pPr algn="l" marL="518158" indent="-259079" lvl="1">
                <a:lnSpc>
                  <a:spcPts val="3359"/>
                </a:lnSpc>
                <a:buFont typeface="Arial"/>
                <a:buChar char="•"/>
              </a:pPr>
              <a:r>
                <a:rPr lang="en-US" sz="2399">
                  <a:solidFill>
                    <a:srgbClr val="000000"/>
                  </a:solidFill>
                  <a:latin typeface="Poppins"/>
                  <a:ea typeface="Poppins"/>
                  <a:cs typeface="Poppins"/>
                  <a:sym typeface="Poppins"/>
                </a:rPr>
                <a:t>As a Business Analyst at a telecom company, I aim to identify key churn drivers and predict customers at risk of leaving in the next billing cycle—enabling proactive retention strategies that protect revenue and maximize customer lifetime value.</a:t>
              </a:r>
            </a:p>
          </p:txBody>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3364" r="0" b="-3364"/>
            </a:stretch>
          </a:blipFill>
        </p:spPr>
      </p:sp>
      <p:sp>
        <p:nvSpPr>
          <p:cNvPr name="Freeform 3" id="3"/>
          <p:cNvSpPr/>
          <p:nvPr/>
        </p:nvSpPr>
        <p:spPr>
          <a:xfrm flipH="false" flipV="false" rot="0">
            <a:off x="687242" y="3471939"/>
            <a:ext cx="17125376" cy="3639142"/>
          </a:xfrm>
          <a:custGeom>
            <a:avLst/>
            <a:gdLst/>
            <a:ahLst/>
            <a:cxnLst/>
            <a:rect r="r" b="b" t="t" l="l"/>
            <a:pathLst>
              <a:path h="3639142" w="17125376">
                <a:moveTo>
                  <a:pt x="0" y="0"/>
                </a:moveTo>
                <a:lnTo>
                  <a:pt x="17125377" y="0"/>
                </a:lnTo>
                <a:lnTo>
                  <a:pt x="17125377" y="3639143"/>
                </a:lnTo>
                <a:lnTo>
                  <a:pt x="0" y="3639143"/>
                </a:lnTo>
                <a:lnTo>
                  <a:pt x="0" y="0"/>
                </a:lnTo>
                <a:close/>
              </a:path>
            </a:pathLst>
          </a:custGeom>
          <a:blipFill>
            <a:blip r:embed="rId4"/>
            <a:stretch>
              <a:fillRect l="0" t="0" r="0" b="0"/>
            </a:stretch>
          </a:blipFill>
        </p:spPr>
      </p:sp>
      <p:sp>
        <p:nvSpPr>
          <p:cNvPr name="TextBox 4" id="4"/>
          <p:cNvSpPr txBox="true"/>
          <p:nvPr/>
        </p:nvSpPr>
        <p:spPr>
          <a:xfrm rot="0">
            <a:off x="1028700" y="484694"/>
            <a:ext cx="11314192" cy="785704"/>
          </a:xfrm>
          <a:prstGeom prst="rect">
            <a:avLst/>
          </a:prstGeom>
        </p:spPr>
        <p:txBody>
          <a:bodyPr anchor="t" rtlCol="false" tIns="0" lIns="0" bIns="0" rIns="0">
            <a:spAutoFit/>
          </a:bodyPr>
          <a:lstStyle/>
          <a:p>
            <a:pPr algn="l" marL="0" indent="0" lvl="0">
              <a:lnSpc>
                <a:spcPts val="5808"/>
              </a:lnSpc>
              <a:spcBef>
                <a:spcPct val="0"/>
              </a:spcBef>
            </a:pPr>
            <a:r>
              <a:rPr lang="en-US" sz="5808" spc="-458">
                <a:solidFill>
                  <a:srgbClr val="000000"/>
                </a:solidFill>
                <a:latin typeface="Archivo Black"/>
                <a:ea typeface="Archivo Black"/>
                <a:cs typeface="Archivo Black"/>
                <a:sym typeface="Archivo Black"/>
              </a:rPr>
              <a:t>Data Science Process</a:t>
            </a:r>
          </a:p>
        </p:txBody>
      </p:sp>
      <p:sp>
        <p:nvSpPr>
          <p:cNvPr name="TextBox 5" id="5"/>
          <p:cNvSpPr txBox="true"/>
          <p:nvPr/>
        </p:nvSpPr>
        <p:spPr>
          <a:xfrm rot="0">
            <a:off x="1138516" y="1308735"/>
            <a:ext cx="9700372" cy="339725"/>
          </a:xfrm>
          <a:prstGeom prst="rect">
            <a:avLst/>
          </a:prstGeom>
        </p:spPr>
        <p:txBody>
          <a:bodyPr anchor="t" rtlCol="false" tIns="0" lIns="0" bIns="0" rIns="0">
            <a:spAutoFit/>
          </a:bodyPr>
          <a:lstStyle/>
          <a:p>
            <a:pPr algn="l" marL="0" indent="0" lvl="0">
              <a:lnSpc>
                <a:spcPts val="2800"/>
              </a:lnSpc>
              <a:spcBef>
                <a:spcPct val="0"/>
              </a:spcBef>
            </a:pPr>
            <a:r>
              <a:rPr lang="en-US" sz="2000">
                <a:solidFill>
                  <a:srgbClr val="000000"/>
                </a:solidFill>
                <a:latin typeface="Garet"/>
                <a:ea typeface="Garet"/>
                <a:cs typeface="Garet"/>
                <a:sym typeface="Garet"/>
              </a:rPr>
              <a:t>Transforming Beyond Dataset</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3364" r="0" b="-3364"/>
            </a:stretch>
          </a:blipFill>
        </p:spPr>
      </p:sp>
      <p:sp>
        <p:nvSpPr>
          <p:cNvPr name="TextBox 3" id="3"/>
          <p:cNvSpPr txBox="true"/>
          <p:nvPr/>
        </p:nvSpPr>
        <p:spPr>
          <a:xfrm rot="0">
            <a:off x="763528" y="320998"/>
            <a:ext cx="6286436" cy="2650170"/>
          </a:xfrm>
          <a:prstGeom prst="rect">
            <a:avLst/>
          </a:prstGeom>
        </p:spPr>
        <p:txBody>
          <a:bodyPr anchor="t" rtlCol="false" tIns="0" lIns="0" bIns="0" rIns="0">
            <a:spAutoFit/>
          </a:bodyPr>
          <a:lstStyle/>
          <a:p>
            <a:pPr algn="l">
              <a:lnSpc>
                <a:spcPts val="3027"/>
              </a:lnSpc>
            </a:pPr>
            <a:r>
              <a:rPr lang="en-US" sz="2162" b="true">
                <a:solidFill>
                  <a:srgbClr val="000000"/>
                </a:solidFill>
                <a:latin typeface="Garet Bold"/>
                <a:ea typeface="Garet Bold"/>
                <a:cs typeface="Garet Bold"/>
                <a:sym typeface="Garet Bold"/>
              </a:rPr>
              <a:t>Dataset</a:t>
            </a:r>
            <a:r>
              <a:rPr lang="en-US" sz="2162">
                <a:solidFill>
                  <a:srgbClr val="000000"/>
                </a:solidFill>
                <a:latin typeface="Garet"/>
                <a:ea typeface="Garet"/>
                <a:cs typeface="Garet"/>
                <a:sym typeface="Garet"/>
              </a:rPr>
              <a:t>: Telco Customer Churn</a:t>
            </a:r>
          </a:p>
          <a:p>
            <a:pPr algn="l">
              <a:lnSpc>
                <a:spcPts val="3027"/>
              </a:lnSpc>
            </a:pPr>
            <a:r>
              <a:rPr lang="en-US" sz="2162" b="true">
                <a:solidFill>
                  <a:srgbClr val="000000"/>
                </a:solidFill>
                <a:latin typeface="Garet Bold"/>
                <a:ea typeface="Garet Bold"/>
                <a:cs typeface="Garet Bold"/>
                <a:sym typeface="Garet Bold"/>
              </a:rPr>
              <a:t>Source</a:t>
            </a:r>
            <a:r>
              <a:rPr lang="en-US" sz="2162">
                <a:solidFill>
                  <a:srgbClr val="000000"/>
                </a:solidFill>
                <a:latin typeface="Garet"/>
                <a:ea typeface="Garet"/>
                <a:cs typeface="Garet"/>
                <a:sym typeface="Garet"/>
              </a:rPr>
              <a:t>:  IBM via Kaggle</a:t>
            </a:r>
          </a:p>
          <a:p>
            <a:pPr algn="l">
              <a:lnSpc>
                <a:spcPts val="3027"/>
              </a:lnSpc>
            </a:pPr>
            <a:r>
              <a:rPr lang="en-US" sz="2162">
                <a:solidFill>
                  <a:srgbClr val="000000"/>
                </a:solidFill>
                <a:latin typeface="Garet"/>
                <a:ea typeface="Garet"/>
                <a:cs typeface="Garet"/>
                <a:sym typeface="Garet"/>
              </a:rPr>
              <a:t>Total of  7,043 entries in the dataset. </a:t>
            </a:r>
          </a:p>
          <a:p>
            <a:pPr algn="l">
              <a:lnSpc>
                <a:spcPts val="3027"/>
              </a:lnSpc>
            </a:pPr>
            <a:r>
              <a:rPr lang="en-US" sz="2162" b="true">
                <a:solidFill>
                  <a:srgbClr val="000000"/>
                </a:solidFill>
                <a:latin typeface="Garet Bold"/>
                <a:ea typeface="Garet Bold"/>
                <a:cs typeface="Garet Bold"/>
                <a:sym typeface="Garet Bold"/>
              </a:rPr>
              <a:t>Target Variable </a:t>
            </a:r>
            <a:r>
              <a:rPr lang="en-US" sz="2162">
                <a:solidFill>
                  <a:srgbClr val="000000"/>
                </a:solidFill>
                <a:latin typeface="Garet"/>
                <a:ea typeface="Garet"/>
                <a:cs typeface="Garet"/>
                <a:sym typeface="Garet"/>
              </a:rPr>
              <a:t>:  Churn Label (Yes/No)</a:t>
            </a:r>
          </a:p>
          <a:p>
            <a:pPr algn="l">
              <a:lnSpc>
                <a:spcPts val="3027"/>
              </a:lnSpc>
            </a:pPr>
          </a:p>
          <a:p>
            <a:pPr algn="l">
              <a:lnSpc>
                <a:spcPts val="3027"/>
              </a:lnSpc>
            </a:pPr>
          </a:p>
          <a:p>
            <a:pPr algn="l" marL="0" indent="0" lvl="0">
              <a:lnSpc>
                <a:spcPts val="3027"/>
              </a:lnSpc>
              <a:spcBef>
                <a:spcPct val="0"/>
              </a:spcBef>
            </a:pPr>
          </a:p>
        </p:txBody>
      </p:sp>
      <p:sp>
        <p:nvSpPr>
          <p:cNvPr name="Freeform 4" id="4"/>
          <p:cNvSpPr/>
          <p:nvPr/>
        </p:nvSpPr>
        <p:spPr>
          <a:xfrm flipH="false" flipV="false" rot="0">
            <a:off x="14137596" y="6319593"/>
            <a:ext cx="3559823" cy="3533933"/>
          </a:xfrm>
          <a:custGeom>
            <a:avLst/>
            <a:gdLst/>
            <a:ahLst/>
            <a:cxnLst/>
            <a:rect r="r" b="b" t="t" l="l"/>
            <a:pathLst>
              <a:path h="3533933" w="3559823">
                <a:moveTo>
                  <a:pt x="0" y="0"/>
                </a:moveTo>
                <a:lnTo>
                  <a:pt x="3559822" y="0"/>
                </a:lnTo>
                <a:lnTo>
                  <a:pt x="3559822" y="3533933"/>
                </a:lnTo>
                <a:lnTo>
                  <a:pt x="0" y="353393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graphicFrame>
        <p:nvGraphicFramePr>
          <p:cNvPr name="Table 5" id="5"/>
          <p:cNvGraphicFramePr>
            <a:graphicFrameLocks noGrp="true"/>
          </p:cNvGraphicFramePr>
          <p:nvPr/>
        </p:nvGraphicFramePr>
        <p:xfrm>
          <a:off x="1028700" y="2259713"/>
          <a:ext cx="13023574" cy="7324725"/>
        </p:xfrm>
        <a:graphic>
          <a:graphicData uri="http://schemas.openxmlformats.org/drawingml/2006/table">
            <a:tbl>
              <a:tblPr/>
              <a:tblGrid>
                <a:gridCol w="2084352"/>
                <a:gridCol w="5801136"/>
                <a:gridCol w="5138086"/>
              </a:tblGrid>
              <a:tr h="1308328">
                <a:tc>
                  <a:txBody>
                    <a:bodyPr anchor="t" rtlCol="false"/>
                    <a:lstStyle/>
                    <a:p>
                      <a:pPr algn="ctr" marL="0" indent="0" lvl="0">
                        <a:lnSpc>
                          <a:spcPts val="3499"/>
                        </a:lnSpc>
                        <a:spcBef>
                          <a:spcPct val="0"/>
                        </a:spcBef>
                        <a:defRPr/>
                      </a:pPr>
                      <a:r>
                        <a:rPr lang="en-US" b="true" sz="2499" strike="noStrike" u="none">
                          <a:solidFill>
                            <a:srgbClr val="000000"/>
                          </a:solidFill>
                          <a:latin typeface="Garet Bold"/>
                          <a:ea typeface="Garet Bold"/>
                          <a:cs typeface="Garet Bold"/>
                          <a:sym typeface="Garet Bold"/>
                        </a:rPr>
                        <a:t>Feature Category</a:t>
                      </a:r>
                      <a:endParaRPr lang="en-US" sz="1100"/>
                    </a:p>
                  </a:txBody>
                  <a:tcPr marL="161925" marR="161925" marT="161925" marB="16192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E9D9C5"/>
                    </a:solidFill>
                  </a:tcPr>
                </a:tc>
                <a:tc>
                  <a:txBody>
                    <a:bodyPr anchor="t" rtlCol="false"/>
                    <a:lstStyle/>
                    <a:p>
                      <a:pPr algn="ctr" marL="0" indent="0" lvl="0">
                        <a:lnSpc>
                          <a:spcPts val="3499"/>
                        </a:lnSpc>
                        <a:spcBef>
                          <a:spcPct val="0"/>
                        </a:spcBef>
                        <a:defRPr/>
                      </a:pPr>
                      <a:r>
                        <a:rPr lang="en-US" b="true" sz="2499" strike="noStrike" u="none">
                          <a:solidFill>
                            <a:srgbClr val="000000"/>
                          </a:solidFill>
                          <a:latin typeface="Garet Bold"/>
                          <a:ea typeface="Garet Bold"/>
                          <a:cs typeface="Garet Bold"/>
                          <a:sym typeface="Garet Bold"/>
                        </a:rPr>
                        <a:t>Example Columns</a:t>
                      </a:r>
                      <a:endParaRPr lang="en-US" sz="1100"/>
                    </a:p>
                  </a:txBody>
                  <a:tcPr marL="161925" marR="161925" marT="161925" marB="16192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E9D9C5"/>
                    </a:solidFill>
                  </a:tcPr>
                </a:tc>
                <a:tc>
                  <a:txBody>
                    <a:bodyPr anchor="t" rtlCol="false"/>
                    <a:lstStyle/>
                    <a:p>
                      <a:pPr algn="ctr" marL="0" indent="0" lvl="0">
                        <a:lnSpc>
                          <a:spcPts val="3499"/>
                        </a:lnSpc>
                        <a:spcBef>
                          <a:spcPct val="0"/>
                        </a:spcBef>
                        <a:defRPr/>
                      </a:pPr>
                      <a:r>
                        <a:rPr lang="en-US" b="true" sz="2499">
                          <a:solidFill>
                            <a:srgbClr val="000000"/>
                          </a:solidFill>
                          <a:latin typeface="Garet Bold"/>
                          <a:ea typeface="Garet Bold"/>
                          <a:cs typeface="Garet Bold"/>
                          <a:sym typeface="Garet Bold"/>
                        </a:rPr>
                        <a:t>Dropped</a:t>
                      </a:r>
                      <a:endParaRPr lang="en-US" sz="1100"/>
                    </a:p>
                  </a:txBody>
                  <a:tcPr marL="161925" marR="161925" marT="161925" marB="16192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solidFill>
                      <a:srgbClr val="E9D9C5"/>
                    </a:solidFill>
                  </a:tcPr>
                </a:tc>
              </a:tr>
              <a:tr h="1203279">
                <a:tc>
                  <a:txBody>
                    <a:bodyPr anchor="t" rtlCol="false"/>
                    <a:lstStyle/>
                    <a:p>
                      <a:pPr algn="ctr" marL="0" indent="0" lvl="0">
                        <a:lnSpc>
                          <a:spcPts val="3079"/>
                        </a:lnSpc>
                        <a:spcBef>
                          <a:spcPct val="0"/>
                        </a:spcBef>
                        <a:defRPr/>
                      </a:pPr>
                      <a:r>
                        <a:rPr lang="en-US" sz="2199" strike="noStrike" u="none">
                          <a:solidFill>
                            <a:srgbClr val="000000"/>
                          </a:solidFill>
                          <a:latin typeface="Garet"/>
                          <a:ea typeface="Garet"/>
                          <a:cs typeface="Garet"/>
                          <a:sym typeface="Garet"/>
                        </a:rPr>
                        <a:t>Customer Info</a:t>
                      </a:r>
                      <a:endParaRPr lang="en-US" sz="1100"/>
                    </a:p>
                  </a:txBody>
                  <a:tcPr marL="161925" marR="161925" marT="161925" marB="16192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marL="0" indent="0" lvl="0">
                        <a:lnSpc>
                          <a:spcPts val="3079"/>
                        </a:lnSpc>
                        <a:spcBef>
                          <a:spcPct val="0"/>
                        </a:spcBef>
                        <a:defRPr/>
                      </a:pPr>
                      <a:r>
                        <a:rPr lang="en-US" sz="2199">
                          <a:solidFill>
                            <a:srgbClr val="000000"/>
                          </a:solidFill>
                          <a:latin typeface="Garet"/>
                          <a:ea typeface="Garet"/>
                          <a:cs typeface="Garet"/>
                          <a:sym typeface="Garet"/>
                        </a:rPr>
                        <a:t>CustomerID, Gender, Senior Citizen, Partner, Dependents</a:t>
                      </a:r>
                      <a:endParaRPr lang="en-US" sz="1100"/>
                    </a:p>
                  </a:txBody>
                  <a:tcPr marL="161925" marR="161925" marT="161925" marB="16192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ts val="3079"/>
                        </a:lnSpc>
                        <a:spcBef>
                          <a:spcPct val="0"/>
                        </a:spcBef>
                        <a:defRPr/>
                      </a:pPr>
                      <a:r>
                        <a:rPr lang="en-US" sz="2199">
                          <a:solidFill>
                            <a:srgbClr val="000000"/>
                          </a:solidFill>
                          <a:latin typeface="Garet"/>
                          <a:ea typeface="Garet"/>
                          <a:cs typeface="Garet"/>
                          <a:sym typeface="Garet"/>
                        </a:rPr>
                        <a:t>CustomerID</a:t>
                      </a:r>
                      <a:endParaRPr lang="en-US" sz="1100"/>
                    </a:p>
                  </a:txBody>
                  <a:tcPr marL="161925" marR="161925" marT="161925" marB="16192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r h="1203279">
                <a:tc>
                  <a:txBody>
                    <a:bodyPr anchor="t" rtlCol="false"/>
                    <a:lstStyle/>
                    <a:p>
                      <a:pPr algn="ctr" marL="0" indent="0" lvl="0">
                        <a:lnSpc>
                          <a:spcPts val="3079"/>
                        </a:lnSpc>
                        <a:spcBef>
                          <a:spcPct val="0"/>
                        </a:spcBef>
                        <a:defRPr/>
                      </a:pPr>
                      <a:r>
                        <a:rPr lang="en-US" sz="2199" strike="noStrike" u="none">
                          <a:solidFill>
                            <a:srgbClr val="000000"/>
                          </a:solidFill>
                          <a:latin typeface="Garet"/>
                          <a:ea typeface="Garet"/>
                          <a:cs typeface="Garet"/>
                          <a:sym typeface="Garet"/>
                        </a:rPr>
                        <a:t>Service Details</a:t>
                      </a:r>
                      <a:endParaRPr lang="en-US" sz="1100"/>
                    </a:p>
                  </a:txBody>
                  <a:tcPr marL="161925" marR="161925" marT="161925" marB="16192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marL="0" indent="0" lvl="0">
                        <a:lnSpc>
                          <a:spcPts val="3079"/>
                        </a:lnSpc>
                        <a:spcBef>
                          <a:spcPct val="0"/>
                        </a:spcBef>
                        <a:defRPr/>
                      </a:pPr>
                      <a:r>
                        <a:rPr lang="en-US" sz="2199">
                          <a:solidFill>
                            <a:srgbClr val="000000"/>
                          </a:solidFill>
                          <a:latin typeface="Garet"/>
                          <a:ea typeface="Garet"/>
                          <a:cs typeface="Garet"/>
                          <a:sym typeface="Garet"/>
                        </a:rPr>
                        <a:t>Phone Service, Internet Service, Tech Support, Streaming TV</a:t>
                      </a:r>
                      <a:endParaRPr lang="en-US" sz="1100"/>
                    </a:p>
                  </a:txBody>
                  <a:tcPr marL="161925" marR="161925" marT="161925" marB="16192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ts val="3079"/>
                        </a:lnSpc>
                        <a:spcBef>
                          <a:spcPct val="0"/>
                        </a:spcBef>
                        <a:defRPr/>
                      </a:pPr>
                      <a:endParaRPr lang="en-US" sz="1100"/>
                    </a:p>
                  </a:txBody>
                  <a:tcPr marL="161925" marR="161925" marT="161925" marB="16192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r h="1203279">
                <a:tc>
                  <a:txBody>
                    <a:bodyPr anchor="t" rtlCol="false"/>
                    <a:lstStyle/>
                    <a:p>
                      <a:pPr algn="ctr" marL="0" indent="0" lvl="0">
                        <a:lnSpc>
                          <a:spcPts val="3079"/>
                        </a:lnSpc>
                        <a:spcBef>
                          <a:spcPct val="0"/>
                        </a:spcBef>
                        <a:defRPr/>
                      </a:pPr>
                      <a:r>
                        <a:rPr lang="en-US" sz="2199">
                          <a:solidFill>
                            <a:srgbClr val="000000"/>
                          </a:solidFill>
                          <a:latin typeface="Garet"/>
                          <a:ea typeface="Garet"/>
                          <a:cs typeface="Garet"/>
                          <a:sym typeface="Garet"/>
                        </a:rPr>
                        <a:t>Account Details</a:t>
                      </a:r>
                      <a:endParaRPr lang="en-US" sz="1100"/>
                    </a:p>
                  </a:txBody>
                  <a:tcPr marL="161925" marR="161925" marT="161925" marB="16192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marL="0" indent="0" lvl="0">
                        <a:lnSpc>
                          <a:spcPts val="3079"/>
                        </a:lnSpc>
                        <a:spcBef>
                          <a:spcPct val="0"/>
                        </a:spcBef>
                        <a:defRPr/>
                      </a:pPr>
                      <a:r>
                        <a:rPr lang="en-US" sz="2199">
                          <a:solidFill>
                            <a:srgbClr val="000000"/>
                          </a:solidFill>
                          <a:latin typeface="Garet"/>
                          <a:ea typeface="Garet"/>
                          <a:cs typeface="Garet"/>
                          <a:sym typeface="Garet"/>
                        </a:rPr>
                        <a:t>Tenure Months, Contract, Payment Method, Paperless Billing</a:t>
                      </a:r>
                      <a:endParaRPr lang="en-US" sz="1100"/>
                    </a:p>
                  </a:txBody>
                  <a:tcPr marL="161925" marR="161925" marT="161925" marB="16192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ts val="3079"/>
                        </a:lnSpc>
                        <a:spcBef>
                          <a:spcPct val="0"/>
                        </a:spcBef>
                        <a:defRPr/>
                      </a:pPr>
                      <a:endParaRPr lang="en-US" sz="1100"/>
                    </a:p>
                  </a:txBody>
                  <a:tcPr marL="161925" marR="161925" marT="161925" marB="16192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r h="1196913">
                <a:tc>
                  <a:txBody>
                    <a:bodyPr anchor="t" rtlCol="false"/>
                    <a:lstStyle/>
                    <a:p>
                      <a:pPr algn="ctr" marL="0" indent="0" lvl="0">
                        <a:lnSpc>
                          <a:spcPts val="3079"/>
                        </a:lnSpc>
                        <a:spcBef>
                          <a:spcPct val="0"/>
                        </a:spcBef>
                        <a:defRPr/>
                      </a:pPr>
                      <a:r>
                        <a:rPr lang="en-US" sz="2199">
                          <a:solidFill>
                            <a:srgbClr val="000000"/>
                          </a:solidFill>
                          <a:latin typeface="Garet"/>
                          <a:ea typeface="Garet"/>
                          <a:cs typeface="Garet"/>
                          <a:sym typeface="Garet"/>
                        </a:rPr>
                        <a:t>Billing</a:t>
                      </a:r>
                      <a:endParaRPr lang="en-US" sz="1100"/>
                    </a:p>
                  </a:txBody>
                  <a:tcPr marL="161925" marR="161925" marT="161925" marB="16192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marL="0" indent="0" lvl="0">
                        <a:lnSpc>
                          <a:spcPts val="3079"/>
                        </a:lnSpc>
                        <a:spcBef>
                          <a:spcPct val="0"/>
                        </a:spcBef>
                        <a:defRPr/>
                      </a:pPr>
                      <a:r>
                        <a:rPr lang="en-US" sz="2199">
                          <a:solidFill>
                            <a:srgbClr val="000000"/>
                          </a:solidFill>
                          <a:latin typeface="Garet"/>
                          <a:ea typeface="Garet"/>
                          <a:cs typeface="Garet"/>
                          <a:sym typeface="Garet"/>
                        </a:rPr>
                        <a:t>Monthly Charges, Total Charges, CLTV</a:t>
                      </a:r>
                      <a:endParaRPr lang="en-US" sz="1100"/>
                    </a:p>
                  </a:txBody>
                  <a:tcPr marL="161925" marR="161925" marT="161925" marB="16192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ts val="3079"/>
                        </a:lnSpc>
                        <a:spcBef>
                          <a:spcPct val="0"/>
                        </a:spcBef>
                        <a:defRPr/>
                      </a:pPr>
                      <a:r>
                        <a:rPr lang="en-US" sz="2199">
                          <a:solidFill>
                            <a:srgbClr val="000000"/>
                          </a:solidFill>
                          <a:latin typeface="Garet"/>
                          <a:ea typeface="Garet"/>
                          <a:cs typeface="Garet"/>
                          <a:sym typeface="Garet"/>
                        </a:rPr>
                        <a:t>CLTV</a:t>
                      </a:r>
                      <a:endParaRPr lang="en-US" sz="1100"/>
                    </a:p>
                  </a:txBody>
                  <a:tcPr marL="161925" marR="161925" marT="161925" marB="16192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r h="1209646">
                <a:tc>
                  <a:txBody>
                    <a:bodyPr anchor="t" rtlCol="false"/>
                    <a:lstStyle/>
                    <a:p>
                      <a:pPr algn="ctr" marL="0" indent="0" lvl="0">
                        <a:lnSpc>
                          <a:spcPts val="3079"/>
                        </a:lnSpc>
                        <a:spcBef>
                          <a:spcPct val="0"/>
                        </a:spcBef>
                        <a:defRPr/>
                      </a:pPr>
                      <a:r>
                        <a:rPr lang="en-US" sz="2199">
                          <a:solidFill>
                            <a:srgbClr val="000000"/>
                          </a:solidFill>
                          <a:latin typeface="Garet"/>
                          <a:ea typeface="Garet"/>
                          <a:cs typeface="Garet"/>
                          <a:sym typeface="Garet"/>
                        </a:rPr>
                        <a:t>Churn Indicators</a:t>
                      </a:r>
                      <a:endParaRPr lang="en-US" sz="1100"/>
                    </a:p>
                  </a:txBody>
                  <a:tcPr marL="161925" marR="161925" marT="161925" marB="16192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marL="0" indent="0" lvl="0">
                        <a:lnSpc>
                          <a:spcPts val="3079"/>
                        </a:lnSpc>
                        <a:spcBef>
                          <a:spcPct val="0"/>
                        </a:spcBef>
                        <a:defRPr/>
                      </a:pPr>
                      <a:r>
                        <a:rPr lang="en-US" sz="2199">
                          <a:solidFill>
                            <a:srgbClr val="000000"/>
                          </a:solidFill>
                          <a:latin typeface="Garet"/>
                          <a:ea typeface="Garet"/>
                          <a:cs typeface="Garet"/>
                          <a:sym typeface="Garet"/>
                        </a:rPr>
                        <a:t>Churn Label</a:t>
                      </a:r>
                      <a:endParaRPr lang="en-US" sz="1100"/>
                    </a:p>
                  </a:txBody>
                  <a:tcPr marL="161925" marR="161925" marT="161925" marB="16192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ts val="3079"/>
                        </a:lnSpc>
                        <a:spcBef>
                          <a:spcPct val="0"/>
                        </a:spcBef>
                        <a:defRPr/>
                      </a:pPr>
                      <a:r>
                        <a:rPr lang="en-US" sz="2199">
                          <a:solidFill>
                            <a:srgbClr val="000000"/>
                          </a:solidFill>
                          <a:latin typeface="Garet"/>
                          <a:ea typeface="Garet"/>
                          <a:cs typeface="Garet"/>
                          <a:sym typeface="Garet"/>
                        </a:rPr>
                        <a:t>Churn Value, Churn Reason, Churn Score</a:t>
                      </a:r>
                      <a:endParaRPr lang="en-US" sz="1100"/>
                    </a:p>
                  </a:txBody>
                  <a:tcPr marL="161925" marR="161925" marT="161925" marB="16192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bl>
          </a:graphicData>
        </a:graphic>
      </p:graphicFrame>
      <p:sp>
        <p:nvSpPr>
          <p:cNvPr name="TextBox 6" id="6"/>
          <p:cNvSpPr txBox="true"/>
          <p:nvPr/>
        </p:nvSpPr>
        <p:spPr>
          <a:xfrm rot="0">
            <a:off x="11085596" y="683473"/>
            <a:ext cx="6875230" cy="785704"/>
          </a:xfrm>
          <a:prstGeom prst="rect">
            <a:avLst/>
          </a:prstGeom>
        </p:spPr>
        <p:txBody>
          <a:bodyPr anchor="t" rtlCol="false" tIns="0" lIns="0" bIns="0" rIns="0">
            <a:spAutoFit/>
          </a:bodyPr>
          <a:lstStyle/>
          <a:p>
            <a:pPr algn="l" marL="0" indent="0" lvl="0">
              <a:lnSpc>
                <a:spcPts val="5808"/>
              </a:lnSpc>
              <a:spcBef>
                <a:spcPct val="0"/>
              </a:spcBef>
            </a:pPr>
            <a:r>
              <a:rPr lang="en-US" sz="5808" spc="-458">
                <a:solidFill>
                  <a:srgbClr val="000000"/>
                </a:solidFill>
                <a:latin typeface="Archivo Black"/>
                <a:ea typeface="Archivo Black"/>
                <a:cs typeface="Archivo Black"/>
                <a:sym typeface="Archivo Black"/>
              </a:rPr>
              <a:t>Dataset Overview</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3364" r="0" b="-3364"/>
            </a:stretch>
          </a:blipFill>
        </p:spPr>
      </p:sp>
      <p:sp>
        <p:nvSpPr>
          <p:cNvPr name="TextBox 3" id="3"/>
          <p:cNvSpPr txBox="true"/>
          <p:nvPr/>
        </p:nvSpPr>
        <p:spPr>
          <a:xfrm rot="0">
            <a:off x="1028700" y="1162887"/>
            <a:ext cx="6875230" cy="785704"/>
          </a:xfrm>
          <a:prstGeom prst="rect">
            <a:avLst/>
          </a:prstGeom>
        </p:spPr>
        <p:txBody>
          <a:bodyPr anchor="t" rtlCol="false" tIns="0" lIns="0" bIns="0" rIns="0">
            <a:spAutoFit/>
          </a:bodyPr>
          <a:lstStyle/>
          <a:p>
            <a:pPr algn="l" marL="0" indent="0" lvl="0">
              <a:lnSpc>
                <a:spcPts val="5808"/>
              </a:lnSpc>
              <a:spcBef>
                <a:spcPct val="0"/>
              </a:spcBef>
            </a:pPr>
            <a:r>
              <a:rPr lang="en-US" sz="5808" spc="-458">
                <a:solidFill>
                  <a:srgbClr val="000000"/>
                </a:solidFill>
                <a:latin typeface="Archivo Black"/>
                <a:ea typeface="Archivo Black"/>
                <a:cs typeface="Archivo Black"/>
                <a:sym typeface="Archivo Black"/>
              </a:rPr>
              <a:t>Data Preprocessing</a:t>
            </a:r>
          </a:p>
        </p:txBody>
      </p:sp>
      <p:sp>
        <p:nvSpPr>
          <p:cNvPr name="TextBox 4" id="4"/>
          <p:cNvSpPr txBox="true"/>
          <p:nvPr/>
        </p:nvSpPr>
        <p:spPr>
          <a:xfrm rot="0">
            <a:off x="1028700" y="2336380"/>
            <a:ext cx="11909518" cy="5462905"/>
          </a:xfrm>
          <a:prstGeom prst="rect">
            <a:avLst/>
          </a:prstGeom>
        </p:spPr>
        <p:txBody>
          <a:bodyPr anchor="t" rtlCol="false" tIns="0" lIns="0" bIns="0" rIns="0">
            <a:spAutoFit/>
          </a:bodyPr>
          <a:lstStyle/>
          <a:p>
            <a:pPr algn="l" marL="474979" indent="-237490" lvl="1">
              <a:lnSpc>
                <a:spcPts val="4399"/>
              </a:lnSpc>
              <a:buFont typeface="Arial"/>
              <a:buChar char="•"/>
            </a:pPr>
            <a:r>
              <a:rPr lang="en-US" sz="2199">
                <a:solidFill>
                  <a:srgbClr val="000000"/>
                </a:solidFill>
                <a:latin typeface="Garet"/>
                <a:ea typeface="Garet"/>
                <a:cs typeface="Garet"/>
                <a:sym typeface="Garet"/>
              </a:rPr>
              <a:t>Converted “Total Charges” numeric data type </a:t>
            </a:r>
          </a:p>
          <a:p>
            <a:pPr algn="l" marL="474979" indent="-237490" lvl="1">
              <a:lnSpc>
                <a:spcPts val="4399"/>
              </a:lnSpc>
              <a:buFont typeface="Arial"/>
              <a:buChar char="•"/>
            </a:pPr>
            <a:r>
              <a:rPr lang="en-US" sz="2199">
                <a:solidFill>
                  <a:srgbClr val="000000"/>
                </a:solidFill>
                <a:latin typeface="Garet"/>
                <a:ea typeface="Garet"/>
                <a:cs typeface="Garet"/>
                <a:sym typeface="Garet"/>
              </a:rPr>
              <a:t>Handled 11 missing values in “Total Charges” </a:t>
            </a:r>
          </a:p>
          <a:p>
            <a:pPr algn="l" marL="474979" indent="-237490" lvl="1">
              <a:lnSpc>
                <a:spcPts val="4399"/>
              </a:lnSpc>
              <a:buFont typeface="Arial"/>
              <a:buChar char="•"/>
            </a:pPr>
            <a:r>
              <a:rPr lang="en-US" sz="2199">
                <a:solidFill>
                  <a:srgbClr val="000000"/>
                </a:solidFill>
                <a:latin typeface="Garet"/>
                <a:ea typeface="Garet"/>
                <a:cs typeface="Garet"/>
                <a:sym typeface="Garet"/>
              </a:rPr>
              <a:t>Dropped “Churn Reason” due to 5,174 missing values </a:t>
            </a:r>
          </a:p>
          <a:p>
            <a:pPr algn="l" marL="474979" indent="-237490" lvl="1">
              <a:lnSpc>
                <a:spcPts val="4399"/>
              </a:lnSpc>
              <a:buFont typeface="Arial"/>
              <a:buChar char="•"/>
            </a:pPr>
            <a:r>
              <a:rPr lang="en-US" sz="2199">
                <a:solidFill>
                  <a:srgbClr val="000000"/>
                </a:solidFill>
                <a:latin typeface="Garet"/>
                <a:ea typeface="Garet"/>
                <a:cs typeface="Garet"/>
                <a:sym typeface="Garet"/>
              </a:rPr>
              <a:t>Removed unused columns like geographic info and IDs</a:t>
            </a:r>
          </a:p>
          <a:p>
            <a:pPr algn="l" marL="474979" indent="-237490" lvl="1">
              <a:lnSpc>
                <a:spcPts val="4399"/>
              </a:lnSpc>
              <a:buFont typeface="Arial"/>
              <a:buChar char="•"/>
            </a:pPr>
            <a:r>
              <a:rPr lang="en-US" sz="2199">
                <a:solidFill>
                  <a:srgbClr val="000000"/>
                </a:solidFill>
                <a:latin typeface="Garet"/>
                <a:ea typeface="Garet"/>
                <a:cs typeface="Garet"/>
                <a:sym typeface="Garet"/>
              </a:rPr>
              <a:t>Label encoded categorial columns such as Gender, Internet Service</a:t>
            </a:r>
          </a:p>
          <a:p>
            <a:pPr algn="l" marL="474979" indent="-237490" lvl="1">
              <a:lnSpc>
                <a:spcPts val="4399"/>
              </a:lnSpc>
              <a:buFont typeface="Arial"/>
              <a:buChar char="•"/>
            </a:pPr>
            <a:r>
              <a:rPr lang="en-US" sz="2199">
                <a:solidFill>
                  <a:srgbClr val="000000"/>
                </a:solidFill>
                <a:latin typeface="Garet"/>
                <a:ea typeface="Garet"/>
                <a:cs typeface="Garet"/>
                <a:sym typeface="Garet"/>
              </a:rPr>
              <a:t>Scaled numerical features using StandardScaler</a:t>
            </a:r>
          </a:p>
          <a:p>
            <a:pPr algn="l" marL="474979" indent="-237490" lvl="1">
              <a:lnSpc>
                <a:spcPts val="4399"/>
              </a:lnSpc>
              <a:buFont typeface="Arial"/>
              <a:buChar char="•"/>
            </a:pPr>
            <a:r>
              <a:rPr lang="en-US" sz="2199">
                <a:solidFill>
                  <a:srgbClr val="000000"/>
                </a:solidFill>
                <a:latin typeface="Garet"/>
                <a:ea typeface="Garet"/>
                <a:cs typeface="Garet"/>
                <a:sym typeface="Garet"/>
              </a:rPr>
              <a:t>Created new features :</a:t>
            </a:r>
          </a:p>
          <a:p>
            <a:pPr algn="l" marL="949959" indent="-316653" lvl="2">
              <a:lnSpc>
                <a:spcPts val="4399"/>
              </a:lnSpc>
              <a:buFont typeface="Arial"/>
              <a:buChar char="⚬"/>
            </a:pPr>
            <a:r>
              <a:rPr lang="en-US" sz="2199">
                <a:solidFill>
                  <a:srgbClr val="000000"/>
                </a:solidFill>
                <a:latin typeface="Garet"/>
                <a:ea typeface="Garet"/>
                <a:cs typeface="Garet"/>
                <a:sym typeface="Garet"/>
              </a:rPr>
              <a:t>Average Spend Per Month</a:t>
            </a:r>
          </a:p>
          <a:p>
            <a:pPr algn="l" marL="949959" indent="-316653" lvl="2">
              <a:lnSpc>
                <a:spcPts val="4399"/>
              </a:lnSpc>
              <a:buFont typeface="Arial"/>
              <a:buChar char="⚬"/>
            </a:pPr>
            <a:r>
              <a:rPr lang="en-US" sz="2199">
                <a:solidFill>
                  <a:srgbClr val="000000"/>
                </a:solidFill>
                <a:latin typeface="Garet"/>
                <a:ea typeface="Garet"/>
                <a:cs typeface="Garet"/>
                <a:sym typeface="Garet"/>
              </a:rPr>
              <a:t>Additional Services Count</a:t>
            </a:r>
          </a:p>
          <a:p>
            <a:pPr algn="l">
              <a:lnSpc>
                <a:spcPts val="4399"/>
              </a:lnSpc>
            </a:pP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3364" r="0" b="-3364"/>
            </a:stretch>
          </a:blipFill>
        </p:spPr>
      </p:sp>
      <p:sp>
        <p:nvSpPr>
          <p:cNvPr name="Freeform 3" id="3"/>
          <p:cNvSpPr/>
          <p:nvPr/>
        </p:nvSpPr>
        <p:spPr>
          <a:xfrm flipH="false" flipV="false" rot="0">
            <a:off x="3981781" y="2556640"/>
            <a:ext cx="10059612" cy="6772281"/>
          </a:xfrm>
          <a:custGeom>
            <a:avLst/>
            <a:gdLst/>
            <a:ahLst/>
            <a:cxnLst/>
            <a:rect r="r" b="b" t="t" l="l"/>
            <a:pathLst>
              <a:path h="6772281" w="10059612">
                <a:moveTo>
                  <a:pt x="0" y="0"/>
                </a:moveTo>
                <a:lnTo>
                  <a:pt x="10059612" y="0"/>
                </a:lnTo>
                <a:lnTo>
                  <a:pt x="10059612" y="6772280"/>
                </a:lnTo>
                <a:lnTo>
                  <a:pt x="0" y="6772280"/>
                </a:lnTo>
                <a:lnTo>
                  <a:pt x="0" y="0"/>
                </a:lnTo>
                <a:close/>
              </a:path>
            </a:pathLst>
          </a:custGeom>
          <a:blipFill>
            <a:blip r:embed="rId4"/>
            <a:stretch>
              <a:fillRect l="0" t="0" r="0" b="0"/>
            </a:stretch>
          </a:blipFill>
        </p:spPr>
      </p:sp>
      <p:sp>
        <p:nvSpPr>
          <p:cNvPr name="TextBox 4" id="4"/>
          <p:cNvSpPr txBox="true"/>
          <p:nvPr/>
        </p:nvSpPr>
        <p:spPr>
          <a:xfrm rot="0">
            <a:off x="805567" y="634895"/>
            <a:ext cx="12132651" cy="785704"/>
          </a:xfrm>
          <a:prstGeom prst="rect">
            <a:avLst/>
          </a:prstGeom>
        </p:spPr>
        <p:txBody>
          <a:bodyPr anchor="t" rtlCol="false" tIns="0" lIns="0" bIns="0" rIns="0">
            <a:spAutoFit/>
          </a:bodyPr>
          <a:lstStyle/>
          <a:p>
            <a:pPr algn="l" marL="0" indent="0" lvl="0">
              <a:lnSpc>
                <a:spcPts val="5808"/>
              </a:lnSpc>
              <a:spcBef>
                <a:spcPct val="0"/>
              </a:spcBef>
            </a:pPr>
            <a:r>
              <a:rPr lang="en-US" sz="5808" spc="-458">
                <a:solidFill>
                  <a:srgbClr val="000000"/>
                </a:solidFill>
                <a:latin typeface="Archivo Black"/>
                <a:ea typeface="Archivo Black"/>
                <a:cs typeface="Archivo Black"/>
                <a:sym typeface="Archivo Black"/>
              </a:rPr>
              <a:t>Data Visualization</a:t>
            </a:r>
          </a:p>
        </p:txBody>
      </p:sp>
      <p:sp>
        <p:nvSpPr>
          <p:cNvPr name="TextBox 5" id="5"/>
          <p:cNvSpPr txBox="true"/>
          <p:nvPr/>
        </p:nvSpPr>
        <p:spPr>
          <a:xfrm rot="0">
            <a:off x="805567" y="1612687"/>
            <a:ext cx="14108690" cy="692150"/>
          </a:xfrm>
          <a:prstGeom prst="rect">
            <a:avLst/>
          </a:prstGeom>
        </p:spPr>
        <p:txBody>
          <a:bodyPr anchor="t" rtlCol="false" tIns="0" lIns="0" bIns="0" rIns="0">
            <a:spAutoFit/>
          </a:bodyPr>
          <a:lstStyle/>
          <a:p>
            <a:pPr algn="l">
              <a:lnSpc>
                <a:spcPts val="2800"/>
              </a:lnSpc>
            </a:pPr>
            <a:r>
              <a:rPr lang="en-US" sz="2000">
                <a:solidFill>
                  <a:srgbClr val="000000"/>
                </a:solidFill>
                <a:latin typeface="Garet"/>
                <a:ea typeface="Garet"/>
                <a:cs typeface="Garet"/>
                <a:sym typeface="Garet"/>
              </a:rPr>
              <a:t>Visualization of customer behaviour and churn patterns have guided understanding of churn drivers.</a:t>
            </a:r>
          </a:p>
          <a:p>
            <a:pPr algn="l">
              <a:lnSpc>
                <a:spcPts val="2800"/>
              </a:lnSpc>
              <a:spcBef>
                <a:spcPct val="0"/>
              </a:spcBef>
            </a:pP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3364" r="0" b="-3364"/>
            </a:stretch>
          </a:blipFill>
        </p:spPr>
      </p:sp>
      <p:sp>
        <p:nvSpPr>
          <p:cNvPr name="Freeform 3" id="3"/>
          <p:cNvSpPr/>
          <p:nvPr/>
        </p:nvSpPr>
        <p:spPr>
          <a:xfrm flipH="false" flipV="false" rot="0">
            <a:off x="3096129" y="2475024"/>
            <a:ext cx="11912289" cy="7147373"/>
          </a:xfrm>
          <a:custGeom>
            <a:avLst/>
            <a:gdLst/>
            <a:ahLst/>
            <a:cxnLst/>
            <a:rect r="r" b="b" t="t" l="l"/>
            <a:pathLst>
              <a:path h="7147373" w="11912289">
                <a:moveTo>
                  <a:pt x="0" y="0"/>
                </a:moveTo>
                <a:lnTo>
                  <a:pt x="11912289" y="0"/>
                </a:lnTo>
                <a:lnTo>
                  <a:pt x="11912289" y="7147373"/>
                </a:lnTo>
                <a:lnTo>
                  <a:pt x="0" y="7147373"/>
                </a:lnTo>
                <a:lnTo>
                  <a:pt x="0" y="0"/>
                </a:lnTo>
                <a:close/>
              </a:path>
            </a:pathLst>
          </a:custGeom>
          <a:blipFill>
            <a:blip r:embed="rId4"/>
            <a:stretch>
              <a:fillRect l="0" t="0" r="0" b="0"/>
            </a:stretch>
          </a:blipFill>
        </p:spPr>
      </p:sp>
      <p:sp>
        <p:nvSpPr>
          <p:cNvPr name="TextBox 4" id="4"/>
          <p:cNvSpPr txBox="true"/>
          <p:nvPr/>
        </p:nvSpPr>
        <p:spPr>
          <a:xfrm rot="0">
            <a:off x="805567" y="634895"/>
            <a:ext cx="12132651" cy="785704"/>
          </a:xfrm>
          <a:prstGeom prst="rect">
            <a:avLst/>
          </a:prstGeom>
        </p:spPr>
        <p:txBody>
          <a:bodyPr anchor="t" rtlCol="false" tIns="0" lIns="0" bIns="0" rIns="0">
            <a:spAutoFit/>
          </a:bodyPr>
          <a:lstStyle/>
          <a:p>
            <a:pPr algn="l" marL="0" indent="0" lvl="0">
              <a:lnSpc>
                <a:spcPts val="5808"/>
              </a:lnSpc>
              <a:spcBef>
                <a:spcPct val="0"/>
              </a:spcBef>
            </a:pPr>
            <a:r>
              <a:rPr lang="en-US" sz="5808" spc="-458">
                <a:solidFill>
                  <a:srgbClr val="000000"/>
                </a:solidFill>
                <a:latin typeface="Archivo Black"/>
                <a:ea typeface="Archivo Black"/>
                <a:cs typeface="Archivo Black"/>
                <a:sym typeface="Archivo Black"/>
              </a:rPr>
              <a:t>Data Visualization</a:t>
            </a:r>
          </a:p>
        </p:txBody>
      </p:sp>
      <p:sp>
        <p:nvSpPr>
          <p:cNvPr name="TextBox 5" id="5"/>
          <p:cNvSpPr txBox="true"/>
          <p:nvPr/>
        </p:nvSpPr>
        <p:spPr>
          <a:xfrm rot="0">
            <a:off x="805567" y="1612687"/>
            <a:ext cx="14108690" cy="692150"/>
          </a:xfrm>
          <a:prstGeom prst="rect">
            <a:avLst/>
          </a:prstGeom>
        </p:spPr>
        <p:txBody>
          <a:bodyPr anchor="t" rtlCol="false" tIns="0" lIns="0" bIns="0" rIns="0">
            <a:spAutoFit/>
          </a:bodyPr>
          <a:lstStyle/>
          <a:p>
            <a:pPr algn="l">
              <a:lnSpc>
                <a:spcPts val="2800"/>
              </a:lnSpc>
            </a:pPr>
            <a:r>
              <a:rPr lang="en-US" sz="2000">
                <a:solidFill>
                  <a:srgbClr val="000000"/>
                </a:solidFill>
                <a:latin typeface="Garet"/>
                <a:ea typeface="Garet"/>
                <a:cs typeface="Garet"/>
                <a:sym typeface="Garet"/>
              </a:rPr>
              <a:t>Visualization of customer behaviour and churn patterns have guided understanding of churn drivers.</a:t>
            </a:r>
          </a:p>
          <a:p>
            <a:pPr algn="l">
              <a:lnSpc>
                <a:spcPts val="2800"/>
              </a:lnSpc>
              <a:spcBef>
                <a:spcPct val="0"/>
              </a:spcBef>
            </a:pP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3364" r="0" b="-3364"/>
            </a:stretch>
          </a:blipFill>
        </p:spPr>
      </p:sp>
      <p:sp>
        <p:nvSpPr>
          <p:cNvPr name="Freeform 3" id="3"/>
          <p:cNvSpPr/>
          <p:nvPr/>
        </p:nvSpPr>
        <p:spPr>
          <a:xfrm flipH="false" flipV="false" rot="0">
            <a:off x="2858729" y="2304837"/>
            <a:ext cx="11681994" cy="7009197"/>
          </a:xfrm>
          <a:custGeom>
            <a:avLst/>
            <a:gdLst/>
            <a:ahLst/>
            <a:cxnLst/>
            <a:rect r="r" b="b" t="t" l="l"/>
            <a:pathLst>
              <a:path h="7009197" w="11681994">
                <a:moveTo>
                  <a:pt x="0" y="0"/>
                </a:moveTo>
                <a:lnTo>
                  <a:pt x="11681995" y="0"/>
                </a:lnTo>
                <a:lnTo>
                  <a:pt x="11681995" y="7009197"/>
                </a:lnTo>
                <a:lnTo>
                  <a:pt x="0" y="7009197"/>
                </a:lnTo>
                <a:lnTo>
                  <a:pt x="0" y="0"/>
                </a:lnTo>
                <a:close/>
              </a:path>
            </a:pathLst>
          </a:custGeom>
          <a:blipFill>
            <a:blip r:embed="rId4"/>
            <a:stretch>
              <a:fillRect l="0" t="0" r="0" b="0"/>
            </a:stretch>
          </a:blipFill>
        </p:spPr>
      </p:sp>
      <p:sp>
        <p:nvSpPr>
          <p:cNvPr name="TextBox 4" id="4"/>
          <p:cNvSpPr txBox="true"/>
          <p:nvPr/>
        </p:nvSpPr>
        <p:spPr>
          <a:xfrm rot="0">
            <a:off x="805567" y="634895"/>
            <a:ext cx="12132651" cy="785704"/>
          </a:xfrm>
          <a:prstGeom prst="rect">
            <a:avLst/>
          </a:prstGeom>
        </p:spPr>
        <p:txBody>
          <a:bodyPr anchor="t" rtlCol="false" tIns="0" lIns="0" bIns="0" rIns="0">
            <a:spAutoFit/>
          </a:bodyPr>
          <a:lstStyle/>
          <a:p>
            <a:pPr algn="l" marL="0" indent="0" lvl="0">
              <a:lnSpc>
                <a:spcPts val="5808"/>
              </a:lnSpc>
              <a:spcBef>
                <a:spcPct val="0"/>
              </a:spcBef>
            </a:pPr>
            <a:r>
              <a:rPr lang="en-US" sz="5808" spc="-458">
                <a:solidFill>
                  <a:srgbClr val="000000"/>
                </a:solidFill>
                <a:latin typeface="Archivo Black"/>
                <a:ea typeface="Archivo Black"/>
                <a:cs typeface="Archivo Black"/>
                <a:sym typeface="Archivo Black"/>
              </a:rPr>
              <a:t>Data Visualization</a:t>
            </a:r>
          </a:p>
        </p:txBody>
      </p:sp>
      <p:sp>
        <p:nvSpPr>
          <p:cNvPr name="TextBox 5" id="5"/>
          <p:cNvSpPr txBox="true"/>
          <p:nvPr/>
        </p:nvSpPr>
        <p:spPr>
          <a:xfrm rot="0">
            <a:off x="805567" y="1612687"/>
            <a:ext cx="14108690" cy="692150"/>
          </a:xfrm>
          <a:prstGeom prst="rect">
            <a:avLst/>
          </a:prstGeom>
        </p:spPr>
        <p:txBody>
          <a:bodyPr anchor="t" rtlCol="false" tIns="0" lIns="0" bIns="0" rIns="0">
            <a:spAutoFit/>
          </a:bodyPr>
          <a:lstStyle/>
          <a:p>
            <a:pPr algn="l">
              <a:lnSpc>
                <a:spcPts val="2800"/>
              </a:lnSpc>
            </a:pPr>
            <a:r>
              <a:rPr lang="en-US" sz="2000">
                <a:solidFill>
                  <a:srgbClr val="000000"/>
                </a:solidFill>
                <a:latin typeface="Garet"/>
                <a:ea typeface="Garet"/>
                <a:cs typeface="Garet"/>
                <a:sym typeface="Garet"/>
              </a:rPr>
              <a:t>Visualization of customer behaviour and churn patterns have guided understanding of churn drivers.</a:t>
            </a:r>
          </a:p>
          <a:p>
            <a:pPr algn="l">
              <a:lnSpc>
                <a:spcPts val="2800"/>
              </a:lnSpc>
              <a:spcBef>
                <a:spcPct val="0"/>
              </a:spcBef>
            </a:pP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3364" r="0" b="-3364"/>
            </a:stretch>
          </a:blipFill>
        </p:spPr>
      </p:sp>
      <p:sp>
        <p:nvSpPr>
          <p:cNvPr name="Freeform 3" id="3"/>
          <p:cNvSpPr/>
          <p:nvPr/>
        </p:nvSpPr>
        <p:spPr>
          <a:xfrm flipH="false" flipV="false" rot="-24000">
            <a:off x="1160925" y="3022490"/>
            <a:ext cx="15966150" cy="5786999"/>
          </a:xfrm>
          <a:custGeom>
            <a:avLst/>
            <a:gdLst/>
            <a:ahLst/>
            <a:cxnLst/>
            <a:rect r="r" b="b" t="t" l="l"/>
            <a:pathLst>
              <a:path h="5786999" w="15966150">
                <a:moveTo>
                  <a:pt x="39625" y="0"/>
                </a:moveTo>
                <a:lnTo>
                  <a:pt x="15966150" y="111190"/>
                </a:lnTo>
                <a:lnTo>
                  <a:pt x="15926525" y="5786999"/>
                </a:lnTo>
                <a:lnTo>
                  <a:pt x="0" y="5675809"/>
                </a:lnTo>
                <a:lnTo>
                  <a:pt x="39625" y="0"/>
                </a:lnTo>
                <a:close/>
              </a:path>
            </a:pathLst>
          </a:custGeom>
          <a:blipFill>
            <a:blip r:embed="rId4"/>
            <a:stretch>
              <a:fillRect l="0" t="0" r="-8691" b="-83"/>
            </a:stretch>
          </a:blipFill>
        </p:spPr>
      </p:sp>
      <p:sp>
        <p:nvSpPr>
          <p:cNvPr name="TextBox 4" id="4"/>
          <p:cNvSpPr txBox="true"/>
          <p:nvPr/>
        </p:nvSpPr>
        <p:spPr>
          <a:xfrm rot="0">
            <a:off x="805567" y="634895"/>
            <a:ext cx="12132651" cy="785704"/>
          </a:xfrm>
          <a:prstGeom prst="rect">
            <a:avLst/>
          </a:prstGeom>
        </p:spPr>
        <p:txBody>
          <a:bodyPr anchor="t" rtlCol="false" tIns="0" lIns="0" bIns="0" rIns="0">
            <a:spAutoFit/>
          </a:bodyPr>
          <a:lstStyle/>
          <a:p>
            <a:pPr algn="l" marL="0" indent="0" lvl="0">
              <a:lnSpc>
                <a:spcPts val="5808"/>
              </a:lnSpc>
              <a:spcBef>
                <a:spcPct val="0"/>
              </a:spcBef>
            </a:pPr>
            <a:r>
              <a:rPr lang="en-US" sz="5808" spc="-458">
                <a:solidFill>
                  <a:srgbClr val="000000"/>
                </a:solidFill>
                <a:latin typeface="Archivo Black"/>
                <a:ea typeface="Archivo Black"/>
                <a:cs typeface="Archivo Black"/>
                <a:sym typeface="Archivo Black"/>
              </a:rPr>
              <a:t>Data Visualization</a:t>
            </a:r>
          </a:p>
        </p:txBody>
      </p:sp>
      <p:sp>
        <p:nvSpPr>
          <p:cNvPr name="TextBox 5" id="5"/>
          <p:cNvSpPr txBox="true"/>
          <p:nvPr/>
        </p:nvSpPr>
        <p:spPr>
          <a:xfrm rot="0">
            <a:off x="805567" y="1612687"/>
            <a:ext cx="14108690" cy="692150"/>
          </a:xfrm>
          <a:prstGeom prst="rect">
            <a:avLst/>
          </a:prstGeom>
        </p:spPr>
        <p:txBody>
          <a:bodyPr anchor="t" rtlCol="false" tIns="0" lIns="0" bIns="0" rIns="0">
            <a:spAutoFit/>
          </a:bodyPr>
          <a:lstStyle/>
          <a:p>
            <a:pPr algn="l">
              <a:lnSpc>
                <a:spcPts val="2800"/>
              </a:lnSpc>
            </a:pPr>
            <a:r>
              <a:rPr lang="en-US" sz="2000">
                <a:solidFill>
                  <a:srgbClr val="000000"/>
                </a:solidFill>
                <a:latin typeface="Garet"/>
                <a:ea typeface="Garet"/>
                <a:cs typeface="Garet"/>
                <a:sym typeface="Garet"/>
              </a:rPr>
              <a:t>Visualization of customer behaviour and churn patterns have guided understanding of churn drivers.</a:t>
            </a:r>
          </a:p>
          <a:p>
            <a:pPr algn="l">
              <a:lnSpc>
                <a:spcPts val="2800"/>
              </a:lnSpc>
              <a:spcBef>
                <a:spcPct val="0"/>
              </a:spcBef>
            </a:pP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3364" r="0" b="-3364"/>
            </a:stretch>
          </a:blipFill>
        </p:spPr>
      </p:sp>
      <p:sp>
        <p:nvSpPr>
          <p:cNvPr name="Freeform 3" id="3"/>
          <p:cNvSpPr/>
          <p:nvPr/>
        </p:nvSpPr>
        <p:spPr>
          <a:xfrm flipH="false" flipV="false" rot="0">
            <a:off x="820261" y="5086807"/>
            <a:ext cx="8552838" cy="4510509"/>
          </a:xfrm>
          <a:custGeom>
            <a:avLst/>
            <a:gdLst/>
            <a:ahLst/>
            <a:cxnLst/>
            <a:rect r="r" b="b" t="t" l="l"/>
            <a:pathLst>
              <a:path h="4510509" w="8552838">
                <a:moveTo>
                  <a:pt x="0" y="0"/>
                </a:moveTo>
                <a:lnTo>
                  <a:pt x="8552838" y="0"/>
                </a:lnTo>
                <a:lnTo>
                  <a:pt x="8552838" y="4510509"/>
                </a:lnTo>
                <a:lnTo>
                  <a:pt x="0" y="4510509"/>
                </a:lnTo>
                <a:lnTo>
                  <a:pt x="0" y="0"/>
                </a:lnTo>
                <a:close/>
              </a:path>
            </a:pathLst>
          </a:custGeom>
          <a:blipFill>
            <a:blip r:embed="rId4"/>
            <a:stretch>
              <a:fillRect l="0" t="0" r="0" b="0"/>
            </a:stretch>
          </a:blipFill>
        </p:spPr>
      </p:sp>
      <p:sp>
        <p:nvSpPr>
          <p:cNvPr name="Freeform 4" id="4"/>
          <p:cNvSpPr/>
          <p:nvPr/>
        </p:nvSpPr>
        <p:spPr>
          <a:xfrm flipH="false" flipV="false" rot="0">
            <a:off x="9995161" y="4810343"/>
            <a:ext cx="7835105" cy="5063437"/>
          </a:xfrm>
          <a:custGeom>
            <a:avLst/>
            <a:gdLst/>
            <a:ahLst/>
            <a:cxnLst/>
            <a:rect r="r" b="b" t="t" l="l"/>
            <a:pathLst>
              <a:path h="5063437" w="7835105">
                <a:moveTo>
                  <a:pt x="0" y="0"/>
                </a:moveTo>
                <a:lnTo>
                  <a:pt x="7835105" y="0"/>
                </a:lnTo>
                <a:lnTo>
                  <a:pt x="7835105" y="5063437"/>
                </a:lnTo>
                <a:lnTo>
                  <a:pt x="0" y="5063437"/>
                </a:lnTo>
                <a:lnTo>
                  <a:pt x="0" y="0"/>
                </a:lnTo>
                <a:close/>
              </a:path>
            </a:pathLst>
          </a:custGeom>
          <a:blipFill>
            <a:blip r:embed="rId5"/>
            <a:stretch>
              <a:fillRect l="0" t="0" r="0" b="0"/>
            </a:stretch>
          </a:blipFill>
        </p:spPr>
      </p:sp>
      <p:sp>
        <p:nvSpPr>
          <p:cNvPr name="TextBox 5" id="5"/>
          <p:cNvSpPr txBox="true"/>
          <p:nvPr/>
        </p:nvSpPr>
        <p:spPr>
          <a:xfrm rot="0">
            <a:off x="1028700" y="561131"/>
            <a:ext cx="12781066" cy="785704"/>
          </a:xfrm>
          <a:prstGeom prst="rect">
            <a:avLst/>
          </a:prstGeom>
        </p:spPr>
        <p:txBody>
          <a:bodyPr anchor="t" rtlCol="false" tIns="0" lIns="0" bIns="0" rIns="0">
            <a:spAutoFit/>
          </a:bodyPr>
          <a:lstStyle/>
          <a:p>
            <a:pPr algn="l" marL="0" indent="0" lvl="0">
              <a:lnSpc>
                <a:spcPts val="5808"/>
              </a:lnSpc>
              <a:spcBef>
                <a:spcPct val="0"/>
              </a:spcBef>
            </a:pPr>
            <a:r>
              <a:rPr lang="en-US" sz="5808" spc="-458">
                <a:solidFill>
                  <a:srgbClr val="000000"/>
                </a:solidFill>
                <a:latin typeface="Archivo Black"/>
                <a:ea typeface="Archivo Black"/>
                <a:cs typeface="Archivo Black"/>
                <a:sym typeface="Archivo Black"/>
              </a:rPr>
              <a:t>Model Building </a:t>
            </a:r>
          </a:p>
        </p:txBody>
      </p:sp>
      <p:sp>
        <p:nvSpPr>
          <p:cNvPr name="TextBox 6" id="6"/>
          <p:cNvSpPr txBox="true"/>
          <p:nvPr/>
        </p:nvSpPr>
        <p:spPr>
          <a:xfrm rot="0">
            <a:off x="1028700" y="1540944"/>
            <a:ext cx="13817890" cy="3106420"/>
          </a:xfrm>
          <a:prstGeom prst="rect">
            <a:avLst/>
          </a:prstGeom>
        </p:spPr>
        <p:txBody>
          <a:bodyPr anchor="t" rtlCol="false" tIns="0" lIns="0" bIns="0" rIns="0">
            <a:spAutoFit/>
          </a:bodyPr>
          <a:lstStyle/>
          <a:p>
            <a:pPr algn="l">
              <a:lnSpc>
                <a:spcPts val="3079"/>
              </a:lnSpc>
            </a:pPr>
            <a:r>
              <a:rPr lang="en-US" sz="2199">
                <a:solidFill>
                  <a:srgbClr val="000000"/>
                </a:solidFill>
                <a:latin typeface="Garet"/>
                <a:ea typeface="Garet"/>
                <a:cs typeface="Garet"/>
                <a:sym typeface="Garet"/>
              </a:rPr>
              <a:t>Multiple models such as Logistic Regression, Decision Tree, Random Forest, and etc</a:t>
            </a:r>
          </a:p>
          <a:p>
            <a:pPr algn="l">
              <a:lnSpc>
                <a:spcPts val="3079"/>
              </a:lnSpc>
            </a:pPr>
            <a:r>
              <a:rPr lang="en-US" sz="2199">
                <a:solidFill>
                  <a:srgbClr val="000000"/>
                </a:solidFill>
                <a:latin typeface="Garet"/>
                <a:ea typeface="Garet"/>
                <a:cs typeface="Garet"/>
                <a:sym typeface="Garet"/>
              </a:rPr>
              <a:t> were tested to predict churn.</a:t>
            </a:r>
          </a:p>
          <a:p>
            <a:pPr algn="l">
              <a:lnSpc>
                <a:spcPts val="3079"/>
              </a:lnSpc>
            </a:pPr>
          </a:p>
          <a:p>
            <a:pPr algn="l">
              <a:lnSpc>
                <a:spcPts val="3079"/>
              </a:lnSpc>
            </a:pPr>
            <a:r>
              <a:rPr lang="en-US" sz="2199">
                <a:solidFill>
                  <a:srgbClr val="000000"/>
                </a:solidFill>
                <a:latin typeface="Garet"/>
                <a:ea typeface="Garet"/>
                <a:cs typeface="Garet"/>
                <a:sym typeface="Garet"/>
              </a:rPr>
              <a:t>Chose Random Forest as best baseline</a:t>
            </a:r>
          </a:p>
          <a:p>
            <a:pPr algn="l">
              <a:lnSpc>
                <a:spcPts val="3079"/>
              </a:lnSpc>
            </a:pPr>
          </a:p>
          <a:p>
            <a:pPr algn="l" marL="474979" indent="-237490" lvl="1">
              <a:lnSpc>
                <a:spcPts val="3079"/>
              </a:lnSpc>
              <a:buFont typeface="Arial"/>
              <a:buChar char="•"/>
            </a:pPr>
            <a:r>
              <a:rPr lang="en-US" sz="2199">
                <a:solidFill>
                  <a:srgbClr val="000000"/>
                </a:solidFill>
                <a:latin typeface="Garet"/>
                <a:ea typeface="Garet"/>
                <a:cs typeface="Garet"/>
                <a:sym typeface="Garet"/>
              </a:rPr>
              <a:t>Handled Class Imbalance since only 26% of the customers churned</a:t>
            </a:r>
          </a:p>
          <a:p>
            <a:pPr algn="l" marL="949959" indent="-316653" lvl="2">
              <a:lnSpc>
                <a:spcPts val="3079"/>
              </a:lnSpc>
              <a:buFont typeface="Arial"/>
              <a:buChar char="⚬"/>
            </a:pPr>
            <a:r>
              <a:rPr lang="en-US" sz="2199">
                <a:solidFill>
                  <a:srgbClr val="000000"/>
                </a:solidFill>
                <a:latin typeface="Garet"/>
                <a:ea typeface="Garet"/>
                <a:cs typeface="Garet"/>
                <a:sym typeface="Garet"/>
              </a:rPr>
              <a:t>Adopted Upsampling due to better performance with higher AUC (0.9784 vs 0.8399)</a:t>
            </a:r>
          </a:p>
          <a:p>
            <a:pPr algn="l">
              <a:lnSpc>
                <a:spcPts val="3079"/>
              </a:lnSpc>
              <a:spcBef>
                <a:spcPct val="0"/>
              </a:spcBef>
            </a:pP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3364" r="0" b="-3364"/>
            </a:stretch>
          </a:blipFill>
        </p:spPr>
      </p:sp>
      <p:sp>
        <p:nvSpPr>
          <p:cNvPr name="Freeform 3" id="3"/>
          <p:cNvSpPr/>
          <p:nvPr/>
        </p:nvSpPr>
        <p:spPr>
          <a:xfrm flipH="false" flipV="false" rot="0">
            <a:off x="9144000" y="3863084"/>
            <a:ext cx="8958476" cy="5789415"/>
          </a:xfrm>
          <a:custGeom>
            <a:avLst/>
            <a:gdLst/>
            <a:ahLst/>
            <a:cxnLst/>
            <a:rect r="r" b="b" t="t" l="l"/>
            <a:pathLst>
              <a:path h="5789415" w="8958476">
                <a:moveTo>
                  <a:pt x="0" y="0"/>
                </a:moveTo>
                <a:lnTo>
                  <a:pt x="8958476" y="0"/>
                </a:lnTo>
                <a:lnTo>
                  <a:pt x="8958476" y="5789415"/>
                </a:lnTo>
                <a:lnTo>
                  <a:pt x="0" y="5789415"/>
                </a:lnTo>
                <a:lnTo>
                  <a:pt x="0" y="0"/>
                </a:lnTo>
                <a:close/>
              </a:path>
            </a:pathLst>
          </a:custGeom>
          <a:blipFill>
            <a:blip r:embed="rId4"/>
            <a:stretch>
              <a:fillRect l="0" t="0" r="0" b="0"/>
            </a:stretch>
          </a:blipFill>
        </p:spPr>
      </p:sp>
      <p:sp>
        <p:nvSpPr>
          <p:cNvPr name="Freeform 4" id="4"/>
          <p:cNvSpPr/>
          <p:nvPr/>
        </p:nvSpPr>
        <p:spPr>
          <a:xfrm flipH="false" flipV="false" rot="0">
            <a:off x="-102109" y="3863084"/>
            <a:ext cx="8958476" cy="5789415"/>
          </a:xfrm>
          <a:custGeom>
            <a:avLst/>
            <a:gdLst/>
            <a:ahLst/>
            <a:cxnLst/>
            <a:rect r="r" b="b" t="t" l="l"/>
            <a:pathLst>
              <a:path h="5789415" w="8958476">
                <a:moveTo>
                  <a:pt x="0" y="0"/>
                </a:moveTo>
                <a:lnTo>
                  <a:pt x="8958475" y="0"/>
                </a:lnTo>
                <a:lnTo>
                  <a:pt x="8958475" y="5789415"/>
                </a:lnTo>
                <a:lnTo>
                  <a:pt x="0" y="5789415"/>
                </a:lnTo>
                <a:lnTo>
                  <a:pt x="0" y="0"/>
                </a:lnTo>
                <a:close/>
              </a:path>
            </a:pathLst>
          </a:custGeom>
          <a:blipFill>
            <a:blip r:embed="rId5"/>
            <a:stretch>
              <a:fillRect l="0" t="0" r="0" b="0"/>
            </a:stretch>
          </a:blipFill>
        </p:spPr>
      </p:sp>
      <p:sp>
        <p:nvSpPr>
          <p:cNvPr name="TextBox 5" id="5"/>
          <p:cNvSpPr txBox="true"/>
          <p:nvPr/>
        </p:nvSpPr>
        <p:spPr>
          <a:xfrm rot="0">
            <a:off x="647518" y="561320"/>
            <a:ext cx="12781066" cy="785704"/>
          </a:xfrm>
          <a:prstGeom prst="rect">
            <a:avLst/>
          </a:prstGeom>
        </p:spPr>
        <p:txBody>
          <a:bodyPr anchor="t" rtlCol="false" tIns="0" lIns="0" bIns="0" rIns="0">
            <a:spAutoFit/>
          </a:bodyPr>
          <a:lstStyle/>
          <a:p>
            <a:pPr algn="l" marL="0" indent="0" lvl="0">
              <a:lnSpc>
                <a:spcPts val="5808"/>
              </a:lnSpc>
              <a:spcBef>
                <a:spcPct val="0"/>
              </a:spcBef>
            </a:pPr>
            <a:r>
              <a:rPr lang="en-US" sz="5808" spc="-458">
                <a:solidFill>
                  <a:srgbClr val="000000"/>
                </a:solidFill>
                <a:latin typeface="Archivo Black"/>
                <a:ea typeface="Archivo Black"/>
                <a:cs typeface="Archivo Black"/>
                <a:sym typeface="Archivo Black"/>
              </a:rPr>
              <a:t>Model Evaluation</a:t>
            </a:r>
          </a:p>
        </p:txBody>
      </p:sp>
      <p:sp>
        <p:nvSpPr>
          <p:cNvPr name="TextBox 6" id="6"/>
          <p:cNvSpPr txBox="true"/>
          <p:nvPr/>
        </p:nvSpPr>
        <p:spPr>
          <a:xfrm rot="0">
            <a:off x="9299117" y="1423225"/>
            <a:ext cx="8203575" cy="2325370"/>
          </a:xfrm>
          <a:prstGeom prst="rect">
            <a:avLst/>
          </a:prstGeom>
        </p:spPr>
        <p:txBody>
          <a:bodyPr anchor="t" rtlCol="false" tIns="0" lIns="0" bIns="0" rIns="0">
            <a:spAutoFit/>
          </a:bodyPr>
          <a:lstStyle/>
          <a:p>
            <a:pPr algn="l">
              <a:lnSpc>
                <a:spcPts val="3079"/>
              </a:lnSpc>
            </a:pPr>
          </a:p>
          <a:p>
            <a:pPr algn="l">
              <a:lnSpc>
                <a:spcPts val="3079"/>
              </a:lnSpc>
            </a:pPr>
            <a:r>
              <a:rPr lang="en-US" sz="2199" b="true">
                <a:solidFill>
                  <a:srgbClr val="000000"/>
                </a:solidFill>
                <a:latin typeface="Garet Bold"/>
                <a:ea typeface="Garet Bold"/>
                <a:cs typeface="Garet Bold"/>
                <a:sym typeface="Garet Bold"/>
              </a:rPr>
              <a:t>Original Random Forest base model :  </a:t>
            </a:r>
            <a:r>
              <a:rPr lang="en-US" sz="2199">
                <a:solidFill>
                  <a:srgbClr val="000000"/>
                </a:solidFill>
                <a:latin typeface="Garet"/>
                <a:ea typeface="Garet"/>
                <a:cs typeface="Garet"/>
                <a:sym typeface="Garet"/>
              </a:rPr>
              <a:t>0.71</a:t>
            </a:r>
          </a:p>
          <a:p>
            <a:pPr algn="l">
              <a:lnSpc>
                <a:spcPts val="3079"/>
              </a:lnSpc>
            </a:pPr>
            <a:r>
              <a:rPr lang="en-US" sz="2199" b="true">
                <a:solidFill>
                  <a:srgbClr val="000000"/>
                </a:solidFill>
                <a:latin typeface="Garet Bold"/>
                <a:ea typeface="Garet Bold"/>
                <a:cs typeface="Garet Bold"/>
                <a:sym typeface="Garet Bold"/>
              </a:rPr>
              <a:t>SMOTE + Random Forest base model : </a:t>
            </a:r>
            <a:r>
              <a:rPr lang="en-US" sz="2199">
                <a:solidFill>
                  <a:srgbClr val="000000"/>
                </a:solidFill>
                <a:latin typeface="Garet"/>
                <a:ea typeface="Garet"/>
                <a:cs typeface="Garet"/>
                <a:sym typeface="Garet"/>
              </a:rPr>
              <a:t>0.75</a:t>
            </a:r>
          </a:p>
          <a:p>
            <a:pPr algn="l">
              <a:lnSpc>
                <a:spcPts val="3079"/>
              </a:lnSpc>
            </a:pPr>
            <a:r>
              <a:rPr lang="en-US" sz="2199" b="true">
                <a:solidFill>
                  <a:srgbClr val="000000"/>
                </a:solidFill>
                <a:latin typeface="Garet Bold"/>
                <a:ea typeface="Garet Bold"/>
                <a:cs typeface="Garet Bold"/>
                <a:sym typeface="Garet Bold"/>
              </a:rPr>
              <a:t>Upsampled Random Forest base model: </a:t>
            </a:r>
            <a:r>
              <a:rPr lang="en-US" sz="2199">
                <a:solidFill>
                  <a:srgbClr val="000000"/>
                </a:solidFill>
                <a:latin typeface="Garet"/>
                <a:ea typeface="Garet"/>
                <a:cs typeface="Garet"/>
                <a:sym typeface="Garet"/>
              </a:rPr>
              <a:t>0.92</a:t>
            </a:r>
          </a:p>
          <a:p>
            <a:pPr algn="l">
              <a:lnSpc>
                <a:spcPts val="3079"/>
              </a:lnSpc>
            </a:pPr>
          </a:p>
          <a:p>
            <a:pPr algn="l">
              <a:lnSpc>
                <a:spcPts val="3079"/>
              </a:lnSpc>
              <a:spcBef>
                <a:spcPct val="0"/>
              </a:spcBef>
            </a:pPr>
          </a:p>
        </p:txBody>
      </p:sp>
      <p:sp>
        <p:nvSpPr>
          <p:cNvPr name="TextBox 7" id="7"/>
          <p:cNvSpPr txBox="true"/>
          <p:nvPr/>
        </p:nvSpPr>
        <p:spPr>
          <a:xfrm rot="0">
            <a:off x="647518" y="1423225"/>
            <a:ext cx="13817890" cy="2325370"/>
          </a:xfrm>
          <a:prstGeom prst="rect">
            <a:avLst/>
          </a:prstGeom>
        </p:spPr>
        <p:txBody>
          <a:bodyPr anchor="t" rtlCol="false" tIns="0" lIns="0" bIns="0" rIns="0">
            <a:spAutoFit/>
          </a:bodyPr>
          <a:lstStyle/>
          <a:p>
            <a:pPr algn="l">
              <a:lnSpc>
                <a:spcPts val="3079"/>
              </a:lnSpc>
            </a:pPr>
          </a:p>
          <a:p>
            <a:pPr algn="l">
              <a:lnSpc>
                <a:spcPts val="3079"/>
              </a:lnSpc>
            </a:pPr>
            <a:r>
              <a:rPr lang="en-US" sz="2199" b="true">
                <a:solidFill>
                  <a:srgbClr val="000000"/>
                </a:solidFill>
                <a:latin typeface="Garet Bold"/>
                <a:ea typeface="Garet Bold"/>
                <a:cs typeface="Garet Bold"/>
                <a:sym typeface="Garet Bold"/>
              </a:rPr>
              <a:t>Original Logistic Regression (LR) base model :  </a:t>
            </a:r>
            <a:r>
              <a:rPr lang="en-US" sz="2199">
                <a:solidFill>
                  <a:srgbClr val="000000"/>
                </a:solidFill>
                <a:latin typeface="Garet"/>
                <a:ea typeface="Garet"/>
                <a:cs typeface="Garet"/>
                <a:sym typeface="Garet"/>
              </a:rPr>
              <a:t>0.85</a:t>
            </a:r>
          </a:p>
          <a:p>
            <a:pPr algn="l">
              <a:lnSpc>
                <a:spcPts val="3079"/>
              </a:lnSpc>
            </a:pPr>
            <a:r>
              <a:rPr lang="en-US" sz="2199" b="true">
                <a:solidFill>
                  <a:srgbClr val="000000"/>
                </a:solidFill>
                <a:latin typeface="Garet Bold"/>
                <a:ea typeface="Garet Bold"/>
                <a:cs typeface="Garet Bold"/>
                <a:sym typeface="Garet Bold"/>
              </a:rPr>
              <a:t>SMOTE LR model </a:t>
            </a:r>
            <a:r>
              <a:rPr lang="en-US" sz="2199">
                <a:solidFill>
                  <a:srgbClr val="000000"/>
                </a:solidFill>
                <a:latin typeface="Garet"/>
                <a:ea typeface="Garet"/>
                <a:cs typeface="Garet"/>
                <a:sym typeface="Garet"/>
              </a:rPr>
              <a:t>: 0.85</a:t>
            </a:r>
          </a:p>
          <a:p>
            <a:pPr algn="l">
              <a:lnSpc>
                <a:spcPts val="3079"/>
              </a:lnSpc>
            </a:pPr>
            <a:r>
              <a:rPr lang="en-US" sz="2199" b="true">
                <a:solidFill>
                  <a:srgbClr val="000000"/>
                </a:solidFill>
                <a:latin typeface="Garet Bold"/>
                <a:ea typeface="Garet Bold"/>
                <a:cs typeface="Garet Bold"/>
                <a:sym typeface="Garet Bold"/>
              </a:rPr>
              <a:t>Upsampled LR model </a:t>
            </a:r>
            <a:r>
              <a:rPr lang="en-US" sz="2199">
                <a:solidFill>
                  <a:srgbClr val="000000"/>
                </a:solidFill>
                <a:latin typeface="Garet"/>
                <a:ea typeface="Garet"/>
                <a:cs typeface="Garet"/>
                <a:sym typeface="Garet"/>
              </a:rPr>
              <a:t>: 0.78</a:t>
            </a:r>
          </a:p>
          <a:p>
            <a:pPr algn="l">
              <a:lnSpc>
                <a:spcPts val="3079"/>
              </a:lnSpc>
            </a:pPr>
          </a:p>
          <a:p>
            <a:pPr algn="l">
              <a:lnSpc>
                <a:spcPts val="3079"/>
              </a:lnSpc>
              <a:spcBef>
                <a:spcPct val="0"/>
              </a:spcBef>
            </a:pP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3364" r="0" b="-3364"/>
            </a:stretch>
          </a:blipFill>
        </p:spPr>
      </p:sp>
      <p:sp>
        <p:nvSpPr>
          <p:cNvPr name="Freeform 3" id="3"/>
          <p:cNvSpPr/>
          <p:nvPr/>
        </p:nvSpPr>
        <p:spPr>
          <a:xfrm flipH="false" flipV="false" rot="0">
            <a:off x="1224748" y="2983883"/>
            <a:ext cx="8384487" cy="6921311"/>
          </a:xfrm>
          <a:custGeom>
            <a:avLst/>
            <a:gdLst/>
            <a:ahLst/>
            <a:cxnLst/>
            <a:rect r="r" b="b" t="t" l="l"/>
            <a:pathLst>
              <a:path h="6921311" w="8384487">
                <a:moveTo>
                  <a:pt x="0" y="0"/>
                </a:moveTo>
                <a:lnTo>
                  <a:pt x="8384488" y="0"/>
                </a:lnTo>
                <a:lnTo>
                  <a:pt x="8384488" y="6921310"/>
                </a:lnTo>
                <a:lnTo>
                  <a:pt x="0" y="6921310"/>
                </a:lnTo>
                <a:lnTo>
                  <a:pt x="0" y="0"/>
                </a:lnTo>
                <a:close/>
              </a:path>
            </a:pathLst>
          </a:custGeom>
          <a:blipFill>
            <a:blip r:embed="rId4"/>
            <a:stretch>
              <a:fillRect l="0" t="0" r="0" b="-2101"/>
            </a:stretch>
          </a:blipFill>
        </p:spPr>
      </p:sp>
      <p:sp>
        <p:nvSpPr>
          <p:cNvPr name="TextBox 4" id="4"/>
          <p:cNvSpPr txBox="true"/>
          <p:nvPr/>
        </p:nvSpPr>
        <p:spPr>
          <a:xfrm rot="0">
            <a:off x="1028700" y="561131"/>
            <a:ext cx="12781066" cy="785704"/>
          </a:xfrm>
          <a:prstGeom prst="rect">
            <a:avLst/>
          </a:prstGeom>
        </p:spPr>
        <p:txBody>
          <a:bodyPr anchor="t" rtlCol="false" tIns="0" lIns="0" bIns="0" rIns="0">
            <a:spAutoFit/>
          </a:bodyPr>
          <a:lstStyle/>
          <a:p>
            <a:pPr algn="l" marL="0" indent="0" lvl="0">
              <a:lnSpc>
                <a:spcPts val="5808"/>
              </a:lnSpc>
              <a:spcBef>
                <a:spcPct val="0"/>
              </a:spcBef>
            </a:pPr>
            <a:r>
              <a:rPr lang="en-US" sz="5808" spc="-458">
                <a:solidFill>
                  <a:srgbClr val="000000"/>
                </a:solidFill>
                <a:latin typeface="Archivo Black"/>
                <a:ea typeface="Archivo Black"/>
                <a:cs typeface="Archivo Black"/>
                <a:sym typeface="Archivo Black"/>
              </a:rPr>
              <a:t>Confusion Matrix</a:t>
            </a:r>
          </a:p>
        </p:txBody>
      </p:sp>
      <p:sp>
        <p:nvSpPr>
          <p:cNvPr name="TextBox 5" id="5"/>
          <p:cNvSpPr txBox="true"/>
          <p:nvPr/>
        </p:nvSpPr>
        <p:spPr>
          <a:xfrm rot="0">
            <a:off x="1028700" y="1540944"/>
            <a:ext cx="13817890" cy="1544320"/>
          </a:xfrm>
          <a:prstGeom prst="rect">
            <a:avLst/>
          </a:prstGeom>
        </p:spPr>
        <p:txBody>
          <a:bodyPr anchor="t" rtlCol="false" tIns="0" lIns="0" bIns="0" rIns="0">
            <a:spAutoFit/>
          </a:bodyPr>
          <a:lstStyle/>
          <a:p>
            <a:pPr algn="l">
              <a:lnSpc>
                <a:spcPts val="3079"/>
              </a:lnSpc>
            </a:pPr>
            <a:r>
              <a:rPr lang="en-US" sz="2199">
                <a:solidFill>
                  <a:srgbClr val="000000"/>
                </a:solidFill>
                <a:latin typeface="Garet"/>
                <a:ea typeface="Garet"/>
                <a:cs typeface="Garet"/>
                <a:sym typeface="Garet"/>
              </a:rPr>
              <a:t>The hypertuned Random Forest model achieved high accuracy</a:t>
            </a:r>
            <a:r>
              <a:rPr lang="en-US" sz="2199">
                <a:solidFill>
                  <a:srgbClr val="000000"/>
                </a:solidFill>
                <a:latin typeface="Garet"/>
                <a:ea typeface="Garet"/>
                <a:cs typeface="Garet"/>
                <a:sym typeface="Garet"/>
              </a:rPr>
              <a:t> and an excellent recall rate, meaning it’s highly effective at identifying customers likely to churn—allowing us to intervene before it’s too late.</a:t>
            </a:r>
          </a:p>
          <a:p>
            <a:pPr algn="l">
              <a:lnSpc>
                <a:spcPts val="3079"/>
              </a:lnSpc>
              <a:spcBef>
                <a:spcPct val="0"/>
              </a:spcBef>
            </a:pPr>
          </a:p>
        </p:txBody>
      </p:sp>
      <p:sp>
        <p:nvSpPr>
          <p:cNvPr name="TextBox 6" id="6"/>
          <p:cNvSpPr txBox="true"/>
          <p:nvPr/>
        </p:nvSpPr>
        <p:spPr>
          <a:xfrm rot="0">
            <a:off x="11350507" y="3047164"/>
            <a:ext cx="5261062" cy="6230620"/>
          </a:xfrm>
          <a:prstGeom prst="rect">
            <a:avLst/>
          </a:prstGeom>
        </p:spPr>
        <p:txBody>
          <a:bodyPr anchor="t" rtlCol="false" tIns="0" lIns="0" bIns="0" rIns="0">
            <a:spAutoFit/>
          </a:bodyPr>
          <a:lstStyle/>
          <a:p>
            <a:pPr algn="l">
              <a:lnSpc>
                <a:spcPts val="3079"/>
              </a:lnSpc>
            </a:pPr>
            <a:r>
              <a:rPr lang="en-US" sz="2199" b="true">
                <a:solidFill>
                  <a:srgbClr val="000000"/>
                </a:solidFill>
                <a:latin typeface="Garet Bold"/>
                <a:ea typeface="Garet Bold"/>
                <a:cs typeface="Garet Bold"/>
                <a:sym typeface="Garet Bold"/>
              </a:rPr>
              <a:t>✅ Key Takeaways</a:t>
            </a:r>
          </a:p>
          <a:p>
            <a:pPr algn="l">
              <a:lnSpc>
                <a:spcPts val="3079"/>
              </a:lnSpc>
            </a:pPr>
          </a:p>
          <a:p>
            <a:pPr algn="l" marL="474979" indent="-237490" lvl="1">
              <a:lnSpc>
                <a:spcPts val="3079"/>
              </a:lnSpc>
              <a:buFont typeface="Arial"/>
              <a:buChar char="•"/>
            </a:pPr>
            <a:r>
              <a:rPr lang="en-US" sz="2199">
                <a:solidFill>
                  <a:srgbClr val="000000"/>
                </a:solidFill>
                <a:latin typeface="Garet"/>
                <a:ea typeface="Garet"/>
                <a:cs typeface="Garet"/>
                <a:sym typeface="Garet"/>
              </a:rPr>
              <a:t>High True Positives (990): Great performance in detecting churners.</a:t>
            </a:r>
          </a:p>
          <a:p>
            <a:pPr algn="l">
              <a:lnSpc>
                <a:spcPts val="3079"/>
              </a:lnSpc>
            </a:pPr>
          </a:p>
          <a:p>
            <a:pPr algn="l" marL="474979" indent="-237490" lvl="1">
              <a:lnSpc>
                <a:spcPts val="3079"/>
              </a:lnSpc>
              <a:buFont typeface="Arial"/>
              <a:buChar char="•"/>
            </a:pPr>
            <a:r>
              <a:rPr lang="en-US" sz="2199">
                <a:solidFill>
                  <a:srgbClr val="000000"/>
                </a:solidFill>
                <a:latin typeface="Garet"/>
                <a:ea typeface="Garet"/>
                <a:cs typeface="Garet"/>
                <a:sym typeface="Garet"/>
              </a:rPr>
              <a:t>Very</a:t>
            </a:r>
            <a:r>
              <a:rPr lang="en-US" sz="2199">
                <a:solidFill>
                  <a:srgbClr val="000000"/>
                </a:solidFill>
                <a:latin typeface="Garet"/>
                <a:ea typeface="Garet"/>
                <a:cs typeface="Garet"/>
                <a:sym typeface="Garet"/>
              </a:rPr>
              <a:t> Low False Negatives (36): Our model rarely misses actual churn cases, which is crucial for customer retention.</a:t>
            </a:r>
          </a:p>
          <a:p>
            <a:pPr algn="l">
              <a:lnSpc>
                <a:spcPts val="3079"/>
              </a:lnSpc>
            </a:pPr>
          </a:p>
          <a:p>
            <a:pPr algn="l" marL="474979" indent="-237490" lvl="1">
              <a:lnSpc>
                <a:spcPts val="3079"/>
              </a:lnSpc>
              <a:spcBef>
                <a:spcPct val="0"/>
              </a:spcBef>
              <a:buFont typeface="Arial"/>
              <a:buChar char="•"/>
            </a:pPr>
            <a:r>
              <a:rPr lang="en-US" sz="2199">
                <a:solidFill>
                  <a:srgbClr val="000000"/>
                </a:solidFill>
                <a:latin typeface="Garet"/>
                <a:ea typeface="Garet"/>
                <a:cs typeface="Garet"/>
                <a:sym typeface="Garet"/>
              </a:rPr>
              <a:t>Balanced Accuracy: Although we do have some false positives (139), it’s often safer to err on the side of caution in churn prediction.</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3364" r="0" b="-3364"/>
            </a:stretch>
          </a:blipFill>
        </p:spPr>
      </p:sp>
      <p:sp>
        <p:nvSpPr>
          <p:cNvPr name="Freeform 3" id="3"/>
          <p:cNvSpPr/>
          <p:nvPr/>
        </p:nvSpPr>
        <p:spPr>
          <a:xfrm flipH="false" flipV="false" rot="0">
            <a:off x="3256752" y="3930143"/>
            <a:ext cx="12427189" cy="5328157"/>
          </a:xfrm>
          <a:custGeom>
            <a:avLst/>
            <a:gdLst/>
            <a:ahLst/>
            <a:cxnLst/>
            <a:rect r="r" b="b" t="t" l="l"/>
            <a:pathLst>
              <a:path h="5328157" w="12427189">
                <a:moveTo>
                  <a:pt x="0" y="0"/>
                </a:moveTo>
                <a:lnTo>
                  <a:pt x="12427190" y="0"/>
                </a:lnTo>
                <a:lnTo>
                  <a:pt x="12427190" y="5328157"/>
                </a:lnTo>
                <a:lnTo>
                  <a:pt x="0" y="5328157"/>
                </a:lnTo>
                <a:lnTo>
                  <a:pt x="0" y="0"/>
                </a:lnTo>
                <a:close/>
              </a:path>
            </a:pathLst>
          </a:custGeom>
          <a:blipFill>
            <a:blip r:embed="rId4"/>
            <a:stretch>
              <a:fillRect l="0" t="0" r="0" b="0"/>
            </a:stretch>
          </a:blipFill>
        </p:spPr>
      </p:sp>
      <p:sp>
        <p:nvSpPr>
          <p:cNvPr name="TextBox 4" id="4"/>
          <p:cNvSpPr txBox="true"/>
          <p:nvPr/>
        </p:nvSpPr>
        <p:spPr>
          <a:xfrm rot="0">
            <a:off x="1028700" y="683473"/>
            <a:ext cx="10356896" cy="1519129"/>
          </a:xfrm>
          <a:prstGeom prst="rect">
            <a:avLst/>
          </a:prstGeom>
        </p:spPr>
        <p:txBody>
          <a:bodyPr anchor="t" rtlCol="false" tIns="0" lIns="0" bIns="0" rIns="0">
            <a:spAutoFit/>
          </a:bodyPr>
          <a:lstStyle/>
          <a:p>
            <a:pPr algn="l">
              <a:lnSpc>
                <a:spcPts val="5808"/>
              </a:lnSpc>
            </a:pPr>
            <a:r>
              <a:rPr lang="en-US" sz="5808" spc="-458">
                <a:solidFill>
                  <a:srgbClr val="000000"/>
                </a:solidFill>
                <a:latin typeface="Archivo Black"/>
                <a:ea typeface="Archivo Black"/>
                <a:cs typeface="Archivo Black"/>
                <a:sym typeface="Archivo Black"/>
              </a:rPr>
              <a:t>Feature Importance</a:t>
            </a:r>
          </a:p>
          <a:p>
            <a:pPr algn="l" marL="0" indent="0" lvl="0">
              <a:lnSpc>
                <a:spcPts val="5808"/>
              </a:lnSpc>
              <a:spcBef>
                <a:spcPct val="0"/>
              </a:spcBef>
            </a:pPr>
          </a:p>
        </p:txBody>
      </p:sp>
      <p:sp>
        <p:nvSpPr>
          <p:cNvPr name="TextBox 5" id="5"/>
          <p:cNvSpPr txBox="true"/>
          <p:nvPr/>
        </p:nvSpPr>
        <p:spPr>
          <a:xfrm rot="0">
            <a:off x="1028700" y="1532379"/>
            <a:ext cx="11909518" cy="1934845"/>
          </a:xfrm>
          <a:prstGeom prst="rect">
            <a:avLst/>
          </a:prstGeom>
        </p:spPr>
        <p:txBody>
          <a:bodyPr anchor="t" rtlCol="false" tIns="0" lIns="0" bIns="0" rIns="0">
            <a:spAutoFit/>
          </a:bodyPr>
          <a:lstStyle/>
          <a:p>
            <a:pPr algn="l" marL="474979" indent="-237490" lvl="1">
              <a:lnSpc>
                <a:spcPts val="3079"/>
              </a:lnSpc>
              <a:buFont typeface="Arial"/>
              <a:buChar char="•"/>
            </a:pPr>
            <a:r>
              <a:rPr lang="en-US" sz="2199">
                <a:solidFill>
                  <a:srgbClr val="000000"/>
                </a:solidFill>
                <a:latin typeface="Garet"/>
                <a:ea typeface="Garet"/>
                <a:cs typeface="Garet"/>
                <a:sym typeface="Garet"/>
              </a:rPr>
              <a:t>Tenure Months is the top predictor</a:t>
            </a:r>
          </a:p>
          <a:p>
            <a:pPr algn="l" marL="474979" indent="-237490" lvl="1">
              <a:lnSpc>
                <a:spcPts val="3079"/>
              </a:lnSpc>
              <a:buFont typeface="Arial"/>
              <a:buChar char="•"/>
            </a:pPr>
            <a:r>
              <a:rPr lang="en-US" sz="2199">
                <a:solidFill>
                  <a:srgbClr val="000000"/>
                </a:solidFill>
                <a:latin typeface="Garet"/>
                <a:ea typeface="Garet"/>
                <a:cs typeface="Garet"/>
                <a:sym typeface="Garet"/>
              </a:rPr>
              <a:t>Total &amp; Monthly Charges strongly influence churn</a:t>
            </a:r>
          </a:p>
          <a:p>
            <a:pPr algn="l" marL="474979" indent="-237490" lvl="1">
              <a:lnSpc>
                <a:spcPts val="3079"/>
              </a:lnSpc>
              <a:buFont typeface="Arial"/>
              <a:buChar char="•"/>
            </a:pPr>
            <a:r>
              <a:rPr lang="en-US" sz="2199">
                <a:solidFill>
                  <a:srgbClr val="000000"/>
                </a:solidFill>
                <a:latin typeface="Garet"/>
                <a:ea typeface="Garet"/>
                <a:cs typeface="Garet"/>
                <a:sym typeface="Garet"/>
              </a:rPr>
              <a:t>Month-to-month contracts are linked to higher risk</a:t>
            </a:r>
          </a:p>
          <a:p>
            <a:pPr algn="l" marL="474979" indent="-237490" lvl="1">
              <a:lnSpc>
                <a:spcPts val="3079"/>
              </a:lnSpc>
              <a:buFont typeface="Arial"/>
              <a:buChar char="•"/>
            </a:pPr>
            <a:r>
              <a:rPr lang="en-US" sz="2199">
                <a:solidFill>
                  <a:srgbClr val="000000"/>
                </a:solidFill>
                <a:latin typeface="Garet"/>
                <a:ea typeface="Garet"/>
                <a:cs typeface="Garet"/>
                <a:sym typeface="Garet"/>
              </a:rPr>
              <a:t>Choice of Online Security &amp; Tech Support affects loyalty</a:t>
            </a:r>
          </a:p>
          <a:p>
            <a:pPr algn="l" marL="474979" indent="-237490" lvl="1">
              <a:lnSpc>
                <a:spcPts val="3079"/>
              </a:lnSpc>
              <a:spcBef>
                <a:spcPct val="0"/>
              </a:spcBef>
              <a:buFont typeface="Arial"/>
              <a:buChar char="•"/>
            </a:pPr>
            <a:r>
              <a:rPr lang="en-US" sz="2199">
                <a:solidFill>
                  <a:srgbClr val="000000"/>
                </a:solidFill>
                <a:latin typeface="Garet"/>
                <a:ea typeface="Garet"/>
                <a:cs typeface="Garet"/>
                <a:sym typeface="Garet"/>
              </a:rPr>
              <a:t>Payment Method &amp; Dependents also contributed to churn risk</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3364" r="0" b="-3364"/>
            </a:stretch>
          </a:blipFill>
        </p:spPr>
      </p:sp>
      <p:sp>
        <p:nvSpPr>
          <p:cNvPr name="Freeform 3" id="3">
            <a:hlinkClick r:id="rId5" tooltip="https://churn-predictor-939566192323.asia-southeast1.run.app"/>
          </p:cNvPr>
          <p:cNvSpPr/>
          <p:nvPr/>
        </p:nvSpPr>
        <p:spPr>
          <a:xfrm flipH="false" flipV="false" rot="0">
            <a:off x="5769998" y="3347503"/>
            <a:ext cx="6748004" cy="6572757"/>
          </a:xfrm>
          <a:custGeom>
            <a:avLst/>
            <a:gdLst/>
            <a:ahLst/>
            <a:cxnLst/>
            <a:rect r="r" b="b" t="t" l="l"/>
            <a:pathLst>
              <a:path h="6572757" w="6748004">
                <a:moveTo>
                  <a:pt x="0" y="0"/>
                </a:moveTo>
                <a:lnTo>
                  <a:pt x="6748004" y="0"/>
                </a:lnTo>
                <a:lnTo>
                  <a:pt x="6748004" y="6572756"/>
                </a:lnTo>
                <a:lnTo>
                  <a:pt x="0" y="6572756"/>
                </a:lnTo>
                <a:lnTo>
                  <a:pt x="0" y="0"/>
                </a:lnTo>
                <a:close/>
              </a:path>
            </a:pathLst>
          </a:custGeom>
          <a:blipFill>
            <a:blip r:embed="rId4"/>
            <a:stretch>
              <a:fillRect l="-50008" t="-5277" r="-46246" b="0"/>
            </a:stretch>
          </a:blipFill>
        </p:spPr>
      </p:sp>
      <p:sp>
        <p:nvSpPr>
          <p:cNvPr name="TextBox 4" id="4"/>
          <p:cNvSpPr txBox="true"/>
          <p:nvPr/>
        </p:nvSpPr>
        <p:spPr>
          <a:xfrm rot="0">
            <a:off x="1028700" y="683473"/>
            <a:ext cx="6875230" cy="785704"/>
          </a:xfrm>
          <a:prstGeom prst="rect">
            <a:avLst/>
          </a:prstGeom>
        </p:spPr>
        <p:txBody>
          <a:bodyPr anchor="t" rtlCol="false" tIns="0" lIns="0" bIns="0" rIns="0">
            <a:spAutoFit/>
          </a:bodyPr>
          <a:lstStyle/>
          <a:p>
            <a:pPr algn="l" marL="0" indent="0" lvl="0">
              <a:lnSpc>
                <a:spcPts val="5808"/>
              </a:lnSpc>
              <a:spcBef>
                <a:spcPct val="0"/>
              </a:spcBef>
            </a:pPr>
            <a:r>
              <a:rPr lang="en-US" sz="5808" spc="-458">
                <a:solidFill>
                  <a:srgbClr val="000000"/>
                </a:solidFill>
                <a:latin typeface="Archivo Black"/>
                <a:ea typeface="Archivo Black"/>
                <a:cs typeface="Archivo Black"/>
                <a:sym typeface="Archivo Black"/>
              </a:rPr>
              <a:t>Deployment</a:t>
            </a:r>
          </a:p>
        </p:txBody>
      </p:sp>
      <p:sp>
        <p:nvSpPr>
          <p:cNvPr name="TextBox 5" id="5"/>
          <p:cNvSpPr txBox="true"/>
          <p:nvPr/>
        </p:nvSpPr>
        <p:spPr>
          <a:xfrm rot="0">
            <a:off x="1028700" y="1532379"/>
            <a:ext cx="11909518" cy="1544320"/>
          </a:xfrm>
          <a:prstGeom prst="rect">
            <a:avLst/>
          </a:prstGeom>
        </p:spPr>
        <p:txBody>
          <a:bodyPr anchor="t" rtlCol="false" tIns="0" lIns="0" bIns="0" rIns="0">
            <a:spAutoFit/>
          </a:bodyPr>
          <a:lstStyle/>
          <a:p>
            <a:pPr algn="l" marL="474979" indent="-237490" lvl="1">
              <a:lnSpc>
                <a:spcPts val="3079"/>
              </a:lnSpc>
              <a:buFont typeface="Arial"/>
              <a:buChar char="•"/>
            </a:pPr>
            <a:r>
              <a:rPr lang="en-US" sz="2199">
                <a:solidFill>
                  <a:srgbClr val="000000"/>
                </a:solidFill>
                <a:latin typeface="Garet"/>
                <a:ea typeface="Garet"/>
                <a:cs typeface="Garet"/>
                <a:sym typeface="Garet"/>
              </a:rPr>
              <a:t>The app have been deployed to Google Cloud using Docker &amp; Cloud Run</a:t>
            </a:r>
          </a:p>
          <a:p>
            <a:pPr algn="l" marL="474979" indent="-237490" lvl="1">
              <a:lnSpc>
                <a:spcPts val="3079"/>
              </a:lnSpc>
              <a:buFont typeface="Arial"/>
              <a:buChar char="•"/>
            </a:pPr>
            <a:r>
              <a:rPr lang="en-US" sz="2199">
                <a:solidFill>
                  <a:srgbClr val="000000"/>
                </a:solidFill>
                <a:latin typeface="Garet"/>
                <a:ea typeface="Garet"/>
                <a:cs typeface="Garet"/>
                <a:sym typeface="Garet"/>
              </a:rPr>
              <a:t>Pushed to GCP Artifact Registry</a:t>
            </a:r>
          </a:p>
          <a:p>
            <a:pPr algn="l" marL="474979" indent="-237490" lvl="1">
              <a:lnSpc>
                <a:spcPts val="3079"/>
              </a:lnSpc>
              <a:buFont typeface="Arial"/>
              <a:buChar char="•"/>
            </a:pPr>
            <a:r>
              <a:rPr lang="en-US" sz="2199">
                <a:solidFill>
                  <a:srgbClr val="000000"/>
                </a:solidFill>
                <a:latin typeface="Garet"/>
                <a:ea typeface="Garet"/>
                <a:cs typeface="Garet"/>
                <a:sym typeface="Garet"/>
              </a:rPr>
              <a:t>Deployed to Cloud Run (</a:t>
            </a:r>
            <a:r>
              <a:rPr lang="en-US" sz="2199" u="sng">
                <a:solidFill>
                  <a:srgbClr val="000000"/>
                </a:solidFill>
                <a:latin typeface="Garet"/>
                <a:ea typeface="Garet"/>
                <a:cs typeface="Garet"/>
                <a:sym typeface="Garet"/>
                <a:hlinkClick r:id="rId6" tooltip="https://churn-predictor-939566192323.asia-southeast1.run.app"/>
              </a:rPr>
              <a:t>live web app</a:t>
            </a:r>
            <a:r>
              <a:rPr lang="en-US" sz="2199">
                <a:solidFill>
                  <a:srgbClr val="000000"/>
                </a:solidFill>
                <a:latin typeface="Garet"/>
                <a:ea typeface="Garet"/>
                <a:cs typeface="Garet"/>
                <a:sym typeface="Garet"/>
              </a:rPr>
              <a:t>)</a:t>
            </a:r>
          </a:p>
          <a:p>
            <a:pPr algn="l" marL="474979" indent="-237490" lvl="1">
              <a:lnSpc>
                <a:spcPts val="3079"/>
              </a:lnSpc>
              <a:spcBef>
                <a:spcPct val="0"/>
              </a:spcBef>
              <a:buFont typeface="Arial"/>
              <a:buChar char="•"/>
            </a:pPr>
            <a:r>
              <a:rPr lang="en-US" sz="2199">
                <a:solidFill>
                  <a:srgbClr val="000000"/>
                </a:solidFill>
                <a:latin typeface="Garet"/>
                <a:ea typeface="Garet"/>
                <a:cs typeface="Garet"/>
                <a:sym typeface="Garet"/>
              </a:rPr>
              <a:t>Allow real-time prediction via form input</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3364" r="0" b="-3364"/>
            </a:stretch>
          </a:blipFill>
        </p:spPr>
      </p:sp>
      <p:sp>
        <p:nvSpPr>
          <p:cNvPr name="TextBox 3" id="3"/>
          <p:cNvSpPr txBox="true"/>
          <p:nvPr/>
        </p:nvSpPr>
        <p:spPr>
          <a:xfrm rot="0">
            <a:off x="1101310" y="683473"/>
            <a:ext cx="15072144" cy="785704"/>
          </a:xfrm>
          <a:prstGeom prst="rect">
            <a:avLst/>
          </a:prstGeom>
        </p:spPr>
        <p:txBody>
          <a:bodyPr anchor="t" rtlCol="false" tIns="0" lIns="0" bIns="0" rIns="0">
            <a:spAutoFit/>
          </a:bodyPr>
          <a:lstStyle/>
          <a:p>
            <a:pPr algn="l" marL="0" indent="0" lvl="0">
              <a:lnSpc>
                <a:spcPts val="5808"/>
              </a:lnSpc>
              <a:spcBef>
                <a:spcPct val="0"/>
              </a:spcBef>
            </a:pPr>
            <a:r>
              <a:rPr lang="en-US" sz="5808" spc="-458">
                <a:solidFill>
                  <a:srgbClr val="000000"/>
                </a:solidFill>
                <a:latin typeface="Archivo Black"/>
                <a:ea typeface="Archivo Black"/>
                <a:cs typeface="Archivo Black"/>
                <a:sym typeface="Archivo Black"/>
              </a:rPr>
              <a:t>Conclusion / Future Work</a:t>
            </a:r>
          </a:p>
        </p:txBody>
      </p:sp>
      <p:sp>
        <p:nvSpPr>
          <p:cNvPr name="TextBox 4" id="4"/>
          <p:cNvSpPr txBox="true"/>
          <p:nvPr/>
        </p:nvSpPr>
        <p:spPr>
          <a:xfrm rot="0">
            <a:off x="1101310" y="1763875"/>
            <a:ext cx="15217363" cy="7402195"/>
          </a:xfrm>
          <a:prstGeom prst="rect">
            <a:avLst/>
          </a:prstGeom>
        </p:spPr>
        <p:txBody>
          <a:bodyPr anchor="t" rtlCol="false" tIns="0" lIns="0" bIns="0" rIns="0">
            <a:spAutoFit/>
          </a:bodyPr>
          <a:lstStyle/>
          <a:p>
            <a:pPr algn="l">
              <a:lnSpc>
                <a:spcPts val="3079"/>
              </a:lnSpc>
            </a:pPr>
            <a:r>
              <a:rPr lang="en-US" sz="2199" u="sng" b="true">
                <a:solidFill>
                  <a:srgbClr val="000000"/>
                </a:solidFill>
                <a:latin typeface="Garet Bold"/>
                <a:ea typeface="Garet Bold"/>
                <a:cs typeface="Garet Bold"/>
                <a:sym typeface="Garet Bold"/>
              </a:rPr>
              <a:t>Conclusion:</a:t>
            </a:r>
          </a:p>
          <a:p>
            <a:pPr algn="l" marL="474979" indent="-237490" lvl="1">
              <a:lnSpc>
                <a:spcPts val="3079"/>
              </a:lnSpc>
              <a:buFont typeface="Arial"/>
              <a:buChar char="•"/>
            </a:pPr>
            <a:r>
              <a:rPr lang="en-US" b="true" sz="2199">
                <a:solidFill>
                  <a:srgbClr val="000000"/>
                </a:solidFill>
                <a:latin typeface="Garet Bold"/>
                <a:ea typeface="Garet Bold"/>
                <a:cs typeface="Garet Bold"/>
                <a:sym typeface="Garet Bold"/>
              </a:rPr>
              <a:t>Prioritize retention efforts for:</a:t>
            </a:r>
          </a:p>
          <a:p>
            <a:pPr algn="l" marL="949959" indent="-316653" lvl="2">
              <a:lnSpc>
                <a:spcPts val="3079"/>
              </a:lnSpc>
              <a:buFont typeface="Arial"/>
              <a:buChar char="⚬"/>
            </a:pPr>
            <a:r>
              <a:rPr lang="en-US" sz="2199">
                <a:solidFill>
                  <a:srgbClr val="000000"/>
                </a:solidFill>
                <a:latin typeface="Garet"/>
                <a:ea typeface="Garet"/>
                <a:cs typeface="Garet"/>
                <a:sym typeface="Garet"/>
              </a:rPr>
              <a:t>New users (&lt;1</a:t>
            </a:r>
            <a:r>
              <a:rPr lang="en-US" sz="2199">
                <a:solidFill>
                  <a:srgbClr val="000000"/>
                </a:solidFill>
                <a:latin typeface="Garet"/>
                <a:ea typeface="Garet"/>
                <a:cs typeface="Garet"/>
                <a:sym typeface="Garet"/>
              </a:rPr>
              <a:t>2 months tenure)</a:t>
            </a:r>
          </a:p>
          <a:p>
            <a:pPr algn="l" marL="949959" indent="-316653" lvl="2">
              <a:lnSpc>
                <a:spcPts val="3079"/>
              </a:lnSpc>
              <a:buFont typeface="Arial"/>
              <a:buChar char="⚬"/>
            </a:pPr>
            <a:r>
              <a:rPr lang="en-US" sz="2199">
                <a:solidFill>
                  <a:srgbClr val="000000"/>
                </a:solidFill>
                <a:latin typeface="Garet"/>
                <a:ea typeface="Garet"/>
                <a:cs typeface="Garet"/>
                <a:sym typeface="Garet"/>
              </a:rPr>
              <a:t>M</a:t>
            </a:r>
            <a:r>
              <a:rPr lang="en-US" sz="2199">
                <a:solidFill>
                  <a:srgbClr val="000000"/>
                </a:solidFill>
                <a:latin typeface="Garet"/>
                <a:ea typeface="Garet"/>
                <a:cs typeface="Garet"/>
                <a:sym typeface="Garet"/>
              </a:rPr>
              <a:t>onth-to-month contract holders</a:t>
            </a:r>
          </a:p>
          <a:p>
            <a:pPr algn="l" marL="949959" indent="-316653" lvl="2">
              <a:lnSpc>
                <a:spcPts val="3079"/>
              </a:lnSpc>
              <a:buFont typeface="Arial"/>
              <a:buChar char="⚬"/>
            </a:pPr>
            <a:r>
              <a:rPr lang="en-US" sz="2199">
                <a:solidFill>
                  <a:srgbClr val="000000"/>
                </a:solidFill>
                <a:latin typeface="Garet"/>
                <a:ea typeface="Garet"/>
                <a:cs typeface="Garet"/>
                <a:sym typeface="Garet"/>
              </a:rPr>
              <a:t>High monthly charge customers</a:t>
            </a:r>
          </a:p>
          <a:p>
            <a:pPr algn="l" marL="949959" indent="-316653" lvl="2">
              <a:lnSpc>
                <a:spcPts val="3079"/>
              </a:lnSpc>
              <a:buFont typeface="Arial"/>
              <a:buChar char="⚬"/>
            </a:pPr>
            <a:r>
              <a:rPr lang="en-US" sz="2199">
                <a:solidFill>
                  <a:srgbClr val="000000"/>
                </a:solidFill>
                <a:latin typeface="Garet"/>
                <a:ea typeface="Garet"/>
                <a:cs typeface="Garet"/>
                <a:sym typeface="Garet"/>
              </a:rPr>
              <a:t>Customers using Electronic Check</a:t>
            </a:r>
          </a:p>
          <a:p>
            <a:pPr algn="l" marL="474979" indent="-237490" lvl="1">
              <a:lnSpc>
                <a:spcPts val="3079"/>
              </a:lnSpc>
              <a:buFont typeface="Arial"/>
              <a:buChar char="•"/>
            </a:pPr>
            <a:r>
              <a:rPr lang="en-US" b="true" sz="2199">
                <a:solidFill>
                  <a:srgbClr val="000000"/>
                </a:solidFill>
                <a:latin typeface="Garet Bold"/>
                <a:ea typeface="Garet Bold"/>
                <a:cs typeface="Garet Bold"/>
                <a:sym typeface="Garet Bold"/>
              </a:rPr>
              <a:t>O</a:t>
            </a:r>
            <a:r>
              <a:rPr lang="en-US" b="true" sz="2199">
                <a:solidFill>
                  <a:srgbClr val="000000"/>
                </a:solidFill>
                <a:latin typeface="Garet Bold"/>
                <a:ea typeface="Garet Bold"/>
                <a:cs typeface="Garet Bold"/>
                <a:sym typeface="Garet Bold"/>
              </a:rPr>
              <a:t>ffer incentives:</a:t>
            </a:r>
          </a:p>
          <a:p>
            <a:pPr algn="l" marL="949959" indent="-316653" lvl="2">
              <a:lnSpc>
                <a:spcPts val="3079"/>
              </a:lnSpc>
              <a:buFont typeface="Arial"/>
              <a:buChar char="⚬"/>
            </a:pPr>
            <a:r>
              <a:rPr lang="en-US" sz="2199">
                <a:solidFill>
                  <a:srgbClr val="000000"/>
                </a:solidFill>
                <a:latin typeface="Garet"/>
                <a:ea typeface="Garet"/>
                <a:cs typeface="Garet"/>
                <a:sym typeface="Garet"/>
              </a:rPr>
              <a:t>Loyalty rewards for early-tenure users</a:t>
            </a:r>
          </a:p>
          <a:p>
            <a:pPr algn="l" marL="949959" indent="-316653" lvl="2">
              <a:lnSpc>
                <a:spcPts val="3079"/>
              </a:lnSpc>
              <a:buFont typeface="Arial"/>
              <a:buChar char="⚬"/>
            </a:pPr>
            <a:r>
              <a:rPr lang="en-US" sz="2199">
                <a:solidFill>
                  <a:srgbClr val="000000"/>
                </a:solidFill>
                <a:latin typeface="Garet"/>
                <a:ea typeface="Garet"/>
                <a:cs typeface="Garet"/>
                <a:sym typeface="Garet"/>
              </a:rPr>
              <a:t>Bundled discounts for high-churn segments (e.g., Fiber Optic users)</a:t>
            </a:r>
          </a:p>
          <a:p>
            <a:pPr algn="l" marL="474979" indent="-237490" lvl="1">
              <a:lnSpc>
                <a:spcPts val="3079"/>
              </a:lnSpc>
              <a:buFont typeface="Arial"/>
              <a:buChar char="•"/>
            </a:pPr>
            <a:r>
              <a:rPr lang="en-US" sz="2199">
                <a:solidFill>
                  <a:srgbClr val="000000"/>
                </a:solidFill>
                <a:latin typeface="Garet"/>
                <a:ea typeface="Garet"/>
                <a:cs typeface="Garet"/>
                <a:sym typeface="Garet"/>
              </a:rPr>
              <a:t>E</a:t>
            </a:r>
            <a:r>
              <a:rPr lang="en-US" sz="2199">
                <a:solidFill>
                  <a:srgbClr val="000000"/>
                </a:solidFill>
                <a:latin typeface="Garet"/>
                <a:ea typeface="Garet"/>
                <a:cs typeface="Garet"/>
                <a:sym typeface="Garet"/>
              </a:rPr>
              <a:t>nable proactive outreach by integrating the deployed churn model with CRM tools</a:t>
            </a:r>
          </a:p>
          <a:p>
            <a:pPr algn="l" marL="474979" indent="-237490" lvl="1">
              <a:lnSpc>
                <a:spcPts val="3079"/>
              </a:lnSpc>
              <a:buFont typeface="Arial"/>
              <a:buChar char="•"/>
            </a:pPr>
            <a:r>
              <a:rPr lang="en-US" sz="2199">
                <a:solidFill>
                  <a:srgbClr val="000000"/>
                </a:solidFill>
                <a:latin typeface="Garet"/>
                <a:ea typeface="Garet"/>
                <a:cs typeface="Garet"/>
                <a:sym typeface="Garet"/>
              </a:rPr>
              <a:t>Continuously retrain the model with new data to maintain accuracy</a:t>
            </a:r>
          </a:p>
          <a:p>
            <a:pPr algn="l">
              <a:lnSpc>
                <a:spcPts val="3079"/>
              </a:lnSpc>
            </a:pPr>
          </a:p>
          <a:p>
            <a:pPr algn="l">
              <a:lnSpc>
                <a:spcPts val="3079"/>
              </a:lnSpc>
            </a:pPr>
            <a:r>
              <a:rPr lang="en-US" sz="2199" u="sng" b="true">
                <a:solidFill>
                  <a:srgbClr val="000000"/>
                </a:solidFill>
                <a:latin typeface="Garet Bold"/>
                <a:ea typeface="Garet Bold"/>
                <a:cs typeface="Garet Bold"/>
                <a:sym typeface="Garet Bold"/>
              </a:rPr>
              <a:t>Future Opportunities : </a:t>
            </a:r>
          </a:p>
          <a:p>
            <a:pPr algn="l" marL="474979" indent="-237490" lvl="1">
              <a:lnSpc>
                <a:spcPts val="3079"/>
              </a:lnSpc>
              <a:buFont typeface="Arial"/>
              <a:buChar char="•"/>
            </a:pPr>
            <a:r>
              <a:rPr lang="en-US" sz="2199">
                <a:solidFill>
                  <a:srgbClr val="000000"/>
                </a:solidFill>
                <a:latin typeface="Garet"/>
                <a:ea typeface="Garet"/>
                <a:cs typeface="Garet"/>
                <a:sym typeface="Garet"/>
              </a:rPr>
              <a:t>Deploy the model as a REST API for real-time predictions</a:t>
            </a:r>
          </a:p>
          <a:p>
            <a:pPr algn="l" marL="474979" indent="-237490" lvl="1">
              <a:lnSpc>
                <a:spcPts val="3079"/>
              </a:lnSpc>
              <a:buFont typeface="Arial"/>
              <a:buChar char="•"/>
            </a:pPr>
            <a:r>
              <a:rPr lang="en-US" sz="2199">
                <a:solidFill>
                  <a:srgbClr val="000000"/>
                </a:solidFill>
                <a:latin typeface="Garet"/>
                <a:ea typeface="Garet"/>
                <a:cs typeface="Garet"/>
                <a:sym typeface="Garet"/>
              </a:rPr>
              <a:t>Automate CRM alerts for high-risk customers</a:t>
            </a:r>
          </a:p>
          <a:p>
            <a:pPr algn="l" marL="474979" indent="-237490" lvl="1">
              <a:lnSpc>
                <a:spcPts val="3079"/>
              </a:lnSpc>
              <a:buFont typeface="Arial"/>
              <a:buChar char="•"/>
            </a:pPr>
            <a:r>
              <a:rPr lang="en-US" sz="2199">
                <a:solidFill>
                  <a:srgbClr val="000000"/>
                </a:solidFill>
                <a:latin typeface="Garet"/>
                <a:ea typeface="Garet"/>
                <a:cs typeface="Garet"/>
                <a:sym typeface="Garet"/>
              </a:rPr>
              <a:t>Enhance features with engagement metrics or complaint history</a:t>
            </a:r>
          </a:p>
          <a:p>
            <a:pPr algn="l" marL="474979" indent="-237490" lvl="1">
              <a:lnSpc>
                <a:spcPts val="3079"/>
              </a:lnSpc>
              <a:buFont typeface="Arial"/>
              <a:buChar char="•"/>
            </a:pPr>
            <a:r>
              <a:rPr lang="en-US" sz="2199">
                <a:solidFill>
                  <a:srgbClr val="000000"/>
                </a:solidFill>
                <a:latin typeface="Garet"/>
                <a:ea typeface="Garet"/>
                <a:cs typeface="Garet"/>
                <a:sym typeface="Garet"/>
              </a:rPr>
              <a:t>Experiment with advanced models (e.g., XGBoost, SHAP explainability)</a:t>
            </a:r>
          </a:p>
          <a:p>
            <a:pPr algn="l">
              <a:lnSpc>
                <a:spcPts val="3079"/>
              </a:lnSpc>
            </a:pPr>
          </a:p>
          <a:p>
            <a:pPr algn="l" marL="0" indent="0" lvl="0">
              <a:lnSpc>
                <a:spcPts val="3079"/>
              </a:lnSpc>
              <a:spcBef>
                <a:spcPct val="0"/>
              </a:spcBef>
            </a:pP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64" r="0" b="-3364"/>
            </a:stretch>
          </a:blipFill>
        </p:spPr>
      </p:sp>
      <p:sp>
        <p:nvSpPr>
          <p:cNvPr name="TextBox 3" id="3"/>
          <p:cNvSpPr txBox="true"/>
          <p:nvPr/>
        </p:nvSpPr>
        <p:spPr>
          <a:xfrm rot="0">
            <a:off x="3603214" y="3224469"/>
            <a:ext cx="11081571" cy="962134"/>
          </a:xfrm>
          <a:prstGeom prst="rect">
            <a:avLst/>
          </a:prstGeom>
        </p:spPr>
        <p:txBody>
          <a:bodyPr anchor="t" rtlCol="false" tIns="0" lIns="0" bIns="0" rIns="0">
            <a:spAutoFit/>
          </a:bodyPr>
          <a:lstStyle/>
          <a:p>
            <a:pPr algn="ctr">
              <a:lnSpc>
                <a:spcPts val="6687"/>
              </a:lnSpc>
            </a:pPr>
            <a:r>
              <a:rPr lang="en-US" sz="8573" spc="-677">
                <a:solidFill>
                  <a:srgbClr val="000000"/>
                </a:solidFill>
                <a:latin typeface="Archivo Black"/>
                <a:ea typeface="Archivo Black"/>
                <a:cs typeface="Archivo Black"/>
                <a:sym typeface="Archivo Black"/>
              </a:rPr>
              <a:t>End of Presentation</a:t>
            </a:r>
          </a:p>
        </p:txBody>
      </p:sp>
      <p:sp>
        <p:nvSpPr>
          <p:cNvPr name="TextBox 4" id="4"/>
          <p:cNvSpPr txBox="true"/>
          <p:nvPr/>
        </p:nvSpPr>
        <p:spPr>
          <a:xfrm rot="0">
            <a:off x="7587124" y="5845147"/>
            <a:ext cx="2643388" cy="998276"/>
          </a:xfrm>
          <a:prstGeom prst="rect">
            <a:avLst/>
          </a:prstGeom>
        </p:spPr>
        <p:txBody>
          <a:bodyPr anchor="t" rtlCol="false" tIns="0" lIns="0" bIns="0" rIns="0">
            <a:spAutoFit/>
          </a:bodyPr>
          <a:lstStyle/>
          <a:p>
            <a:pPr algn="ctr">
              <a:lnSpc>
                <a:spcPts val="7449"/>
              </a:lnSpc>
              <a:spcBef>
                <a:spcPct val="0"/>
              </a:spcBef>
            </a:pPr>
            <a:r>
              <a:rPr lang="en-US" sz="7449" spc="-588">
                <a:solidFill>
                  <a:srgbClr val="000000"/>
                </a:solidFill>
                <a:latin typeface="Brittany"/>
                <a:ea typeface="Brittany"/>
                <a:cs typeface="Brittany"/>
                <a:sym typeface="Brittany"/>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DAGicjQNS6U</dc:identifier>
  <dcterms:modified xsi:type="dcterms:W3CDTF">2011-08-01T06:04:30Z</dcterms:modified>
  <cp:revision>1</cp:revision>
  <dc:title>Customer Churn Prediction</dc:title>
</cp:coreProperties>
</file>